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0" r:id="rId2"/>
    <p:sldId id="258" r:id="rId3"/>
    <p:sldId id="259" r:id="rId4"/>
    <p:sldId id="272" r:id="rId5"/>
    <p:sldId id="274" r:id="rId6"/>
    <p:sldId id="260" r:id="rId7"/>
    <p:sldId id="279" r:id="rId8"/>
    <p:sldId id="277" r:id="rId9"/>
    <p:sldId id="275" r:id="rId10"/>
    <p:sldId id="271" r:id="rId11"/>
    <p:sldId id="266" r:id="rId12"/>
    <p:sldId id="263" r:id="rId13"/>
    <p:sldId id="268" r:id="rId14"/>
    <p:sldId id="273" r:id="rId15"/>
    <p:sldId id="278" r:id="rId16"/>
    <p:sldId id="280" r:id="rId17"/>
    <p:sldId id="281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A202"/>
    <a:srgbClr val="FDF5E7"/>
    <a:srgbClr val="46A201"/>
    <a:srgbClr val="FCEBD0"/>
    <a:srgbClr val="F1F5D3"/>
    <a:srgbClr val="FFFDD0"/>
    <a:srgbClr val="4B4B4B"/>
    <a:srgbClr val="E8EFB9"/>
    <a:srgbClr val="F9D69D"/>
    <a:srgbClr val="E6C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1FAA2-BD4D-63FF-E45C-9C3D45651CD9}" v="340" dt="2026-02-01T06:32:20.888"/>
    <p1510:client id="{086FEE16-E3C9-E073-A6F5-4F0A09358679}" v="186" dt="2026-02-01T09:34:52.789"/>
    <p1510:client id="{0B27334E-F60F-0829-FBDE-979FD9DB4A1A}" v="13" dt="2026-02-01T02:15:09.820"/>
    <p1510:client id="{0FD68AB9-D772-2BD1-D9F8-15FE66B8AF2E}" v="126" dt="2026-02-01T08:07:25.956"/>
    <p1510:client id="{147EDEB6-5AB2-CC41-4980-2BC8F92DF195}" v="196" dt="2026-02-01T08:09:39.111"/>
    <p1510:client id="{17C7B9BD-24E5-12A8-CBE5-0F0D57142A90}" v="79" dt="2026-02-01T14:27:42.917"/>
    <p1510:client id="{24DB584F-E3D1-A8D9-232D-7DCBBDEE44DF}" v="481" dt="2026-02-01T15:41:01.993"/>
    <p1510:client id="{32F06485-EE71-7ED1-15C2-E6B6CA2BA62F}" v="7" dt="2026-02-01T01:50:59.020"/>
    <p1510:client id="{3E8F362D-74F0-AA30-588B-497157B8103C}" v="8" dt="2026-02-01T16:14:50.231"/>
    <p1510:client id="{4C4A5E7D-C407-43FA-8FA3-467FFABDBF77}" v="2205" dt="2026-02-01T16:57:19.431"/>
    <p1510:client id="{5DC991EF-9904-41BA-9869-F3C2B8181A99}" v="8471" dt="2026-02-01T16:54:54.051"/>
    <p1510:client id="{64698145-8AB6-D071-8C7A-E2866E9E4731}" v="946" dt="2026-02-01T07:50:01.993"/>
    <p1510:client id="{686B7646-EDAB-F8C6-595A-DA91B78B31AF}" v="167" dt="2026-02-01T16:47:58.314"/>
    <p1510:client id="{6E3C64E9-D6E1-8E59-BD88-7508D6E2E366}" v="1" dt="2026-02-01T08:25:13.752"/>
    <p1510:client id="{8B3F4E28-6AB0-4108-5C6F-51A63122BCDC}" v="48" dt="2026-02-01T16:22:44.200"/>
    <p1510:client id="{8FDDEFA3-B550-478E-BFAF-450EAB06F695}" v="518" dt="2026-02-01T16:53:05.229"/>
    <p1510:client id="{91F1E91E-9461-6A03-59A4-4665A8D9EB9C}" v="236" dt="2026-02-01T06:53:20.231"/>
    <p1510:client id="{9C17CB5F-8A74-F34C-D12F-BABC67C6B461}" v="40" dt="2026-02-01T14:18:39.188"/>
    <p1510:client id="{9F9E580F-7C4B-B890-75F6-A3128378D44C}" v="18" dt="2026-02-01T15:39:54.429"/>
    <p1510:client id="{A06B3A38-C25E-850B-EE72-D6DA48521E21}" v="794" dt="2026-02-01T09:04:49.557"/>
    <p1510:client id="{A1F77236-F929-7DE8-6464-44C1BD97CA74}" v="452" dt="2026-02-01T09:05:52.434"/>
    <p1510:client id="{BF8EB030-0285-A8E5-7B6C-D5629A490995}" v="299" dt="2026-02-01T06:12:21.650"/>
    <p1510:client id="{D3545873-3FA1-4FDD-975D-CF10F04F6C34}" v="1135" dt="2026-02-01T16:16:18.639"/>
    <p1510:client id="{D8D3E5BC-7E95-B8EC-F9FD-B8290FC039D0}" v="88" dt="2026-02-01T09:23:08.171"/>
    <p1510:client id="{F2703CE7-32EE-6E13-95B3-7236A186C8B3}" v="80" dt="2026-02-01T16:39:10.836"/>
    <p1510:client id="{FBEAEF00-48A1-8F32-25AF-46FA8E0BC745}" v="95" dt="2026-02-01T07:13:05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64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BC948-C19F-4095-9D24-2BDAFCCA8EFC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CD112E0-2461-46B9-9618-A6DA374F181F}">
      <dgm:prSet phldrT="[Text]" custT="1"/>
      <dgm:spPr/>
      <dgm:t>
        <a:bodyPr/>
        <a:lstStyle/>
        <a:p>
          <a:pPr>
            <a:defRPr b="1"/>
          </a:pPr>
          <a:r>
            <a:rPr lang="en-US" sz="2000" b="1">
              <a:latin typeface="Biome"/>
              <a:ea typeface="+mn-ea"/>
              <a:cs typeface="+mn-cs"/>
            </a:rPr>
            <a:t>Year 1</a:t>
          </a:r>
        </a:p>
      </dgm:t>
    </dgm:pt>
    <dgm:pt modelId="{FEFD25DA-F79F-4C0F-9837-3935A216AAF0}" type="parTrans" cxnId="{4EEAF0E8-B75A-405F-9AAE-9A6C49FC8221}">
      <dgm:prSet/>
      <dgm:spPr/>
      <dgm:t>
        <a:bodyPr/>
        <a:lstStyle/>
        <a:p>
          <a:endParaRPr lang="en-US"/>
        </a:p>
      </dgm:t>
    </dgm:pt>
    <dgm:pt modelId="{EBBDBDAC-8FA4-4C9F-BC19-02F0424EE573}" type="sibTrans" cxnId="{4EEAF0E8-B75A-405F-9AAE-9A6C49FC8221}">
      <dgm:prSet/>
      <dgm:spPr/>
      <dgm:t>
        <a:bodyPr/>
        <a:lstStyle/>
        <a:p>
          <a:endParaRPr lang="en-US"/>
        </a:p>
      </dgm:t>
    </dgm:pt>
    <dgm:pt modelId="{BB80DDF5-D98A-44E4-9702-09C684F00975}">
      <dgm:prSet phldrT="[Text]" phldr="0"/>
      <dgm:spPr/>
      <dgm:t>
        <a:bodyPr/>
        <a:lstStyle/>
        <a:p>
          <a:pPr>
            <a:defRPr b="1"/>
          </a:pPr>
          <a:r>
            <a:rPr lang="en-US" sz="1900">
              <a:latin typeface="Biome"/>
              <a:ea typeface="+mn-ea"/>
              <a:cs typeface="+mn-cs"/>
            </a:rPr>
            <a:t>Year 2</a:t>
          </a:r>
        </a:p>
      </dgm:t>
    </dgm:pt>
    <dgm:pt modelId="{39AF3D9F-F24B-4CF6-B85B-9930E99742EF}" type="parTrans" cxnId="{0C0544CA-32AB-4D1E-978A-B512EB5649E8}">
      <dgm:prSet/>
      <dgm:spPr/>
      <dgm:t>
        <a:bodyPr/>
        <a:lstStyle/>
        <a:p>
          <a:endParaRPr lang="en-US"/>
        </a:p>
      </dgm:t>
    </dgm:pt>
    <dgm:pt modelId="{B99AA754-1E62-4D80-A094-A025B20EE223}" type="sibTrans" cxnId="{0C0544CA-32AB-4D1E-978A-B512EB5649E8}">
      <dgm:prSet/>
      <dgm:spPr/>
      <dgm:t>
        <a:bodyPr/>
        <a:lstStyle/>
        <a:p>
          <a:endParaRPr lang="en-US"/>
        </a:p>
      </dgm:t>
    </dgm:pt>
    <dgm:pt modelId="{6C379E8F-7501-411C-85AD-824371AA0C7D}">
      <dgm:prSet phldrT="[Text]" custT="1"/>
      <dgm:spPr/>
      <dgm:t>
        <a:bodyPr/>
        <a:lstStyle/>
        <a:p>
          <a:pPr>
            <a:defRPr b="1"/>
          </a:pPr>
          <a:r>
            <a:rPr lang="en-US" sz="2000">
              <a:latin typeface="Biome"/>
              <a:ea typeface="+mn-ea"/>
              <a:cs typeface="+mn-cs"/>
            </a:rPr>
            <a:t>Year 3</a:t>
          </a:r>
        </a:p>
      </dgm:t>
    </dgm:pt>
    <dgm:pt modelId="{A6ECAFB2-1F98-4D73-9EA0-18579E7CB021}" type="parTrans" cxnId="{8A0CB9D3-12E1-427F-87A0-D29B12A6D2C0}">
      <dgm:prSet/>
      <dgm:spPr/>
      <dgm:t>
        <a:bodyPr/>
        <a:lstStyle/>
        <a:p>
          <a:endParaRPr lang="en-US"/>
        </a:p>
      </dgm:t>
    </dgm:pt>
    <dgm:pt modelId="{89C84841-F0A8-4986-BE49-D0E6CACF2026}" type="sibTrans" cxnId="{8A0CB9D3-12E1-427F-87A0-D29B12A6D2C0}">
      <dgm:prSet/>
      <dgm:spPr/>
      <dgm:t>
        <a:bodyPr/>
        <a:lstStyle/>
        <a:p>
          <a:endParaRPr lang="en-US"/>
        </a:p>
      </dgm:t>
    </dgm:pt>
    <dgm:pt modelId="{B53D40FF-32AB-4ECC-B6C1-9BA8D7C9ED69}">
      <dgm:prSet phldr="0"/>
      <dgm:spPr/>
      <dgm:t>
        <a:bodyPr/>
        <a:lstStyle/>
        <a:p>
          <a:pPr>
            <a:defRPr b="1"/>
          </a:pPr>
          <a:r>
            <a:rPr lang="en-US" sz="1900">
              <a:latin typeface="Biome"/>
              <a:ea typeface="+mn-ea"/>
              <a:cs typeface="+mn-cs"/>
            </a:rPr>
            <a:t>Year 4</a:t>
          </a:r>
        </a:p>
      </dgm:t>
    </dgm:pt>
    <dgm:pt modelId="{A13131A9-22C2-4402-953C-0408BF8A7634}" type="parTrans" cxnId="{EDA52606-5114-4868-95CC-1FA96524B103}">
      <dgm:prSet/>
      <dgm:spPr/>
      <dgm:t>
        <a:bodyPr/>
        <a:lstStyle/>
        <a:p>
          <a:endParaRPr lang="en-US"/>
        </a:p>
      </dgm:t>
    </dgm:pt>
    <dgm:pt modelId="{AC67CD06-4A9C-4D6C-A950-525AE0321731}" type="sibTrans" cxnId="{EDA52606-5114-4868-95CC-1FA96524B103}">
      <dgm:prSet/>
      <dgm:spPr/>
      <dgm:t>
        <a:bodyPr/>
        <a:lstStyle/>
        <a:p>
          <a:endParaRPr lang="en-US"/>
        </a:p>
      </dgm:t>
    </dgm:pt>
    <dgm:pt modelId="{750C20AA-E619-46D1-8D97-AE0E0A6073FE}">
      <dgm:prSet phldr="0"/>
      <dgm:spPr/>
      <dgm:t>
        <a:bodyPr/>
        <a:lstStyle/>
        <a:p>
          <a:pPr>
            <a:defRPr b="1"/>
          </a:pPr>
          <a:r>
            <a:rPr lang="en-US" sz="1900">
              <a:latin typeface="Biome"/>
              <a:ea typeface="+mn-ea"/>
              <a:cs typeface="+mn-cs"/>
            </a:rPr>
            <a:t>Year 5</a:t>
          </a:r>
        </a:p>
      </dgm:t>
    </dgm:pt>
    <dgm:pt modelId="{E7353C1F-106C-4892-8570-4F86A4925168}" type="parTrans" cxnId="{29E1C2AB-978E-443D-ACB1-F875CF0BB0E6}">
      <dgm:prSet/>
      <dgm:spPr/>
      <dgm:t>
        <a:bodyPr/>
        <a:lstStyle/>
        <a:p>
          <a:endParaRPr lang="en-US"/>
        </a:p>
      </dgm:t>
    </dgm:pt>
    <dgm:pt modelId="{C8CAF5D5-A389-4A3D-9977-74D1324DE247}" type="sibTrans" cxnId="{29E1C2AB-978E-443D-ACB1-F875CF0BB0E6}">
      <dgm:prSet/>
      <dgm:spPr/>
      <dgm:t>
        <a:bodyPr/>
        <a:lstStyle/>
        <a:p>
          <a:endParaRPr lang="en-US"/>
        </a:p>
      </dgm:t>
    </dgm:pt>
    <dgm:pt modelId="{4EC6D0B7-A585-47D4-9B3F-F64F05E21DE6}">
      <dgm:prSet phldr="0"/>
      <dgm:spPr/>
      <dgm:t>
        <a:bodyPr/>
        <a:lstStyle/>
        <a:p>
          <a:r>
            <a:rPr lang="en-US" sz="1400" b="1">
              <a:latin typeface="Aptos"/>
              <a:ea typeface="+mn-ea"/>
              <a:cs typeface="+mn-cs"/>
            </a:rPr>
            <a:t>Foundation &amp; validation</a:t>
          </a:r>
          <a:endParaRPr lang="en-US" sz="1400" b="0">
            <a:latin typeface="Aptos"/>
            <a:ea typeface="+mn-ea"/>
            <a:cs typeface="+mn-cs"/>
          </a:endParaRPr>
        </a:p>
      </dgm:t>
    </dgm:pt>
    <dgm:pt modelId="{66DBA64C-7C6C-46CD-ADD9-63978E858629}" type="parTrans" cxnId="{84856933-7C40-4F20-B3F7-B207D478AAF1}">
      <dgm:prSet/>
      <dgm:spPr/>
      <dgm:t>
        <a:bodyPr/>
        <a:lstStyle/>
        <a:p>
          <a:endParaRPr lang="en-US"/>
        </a:p>
      </dgm:t>
    </dgm:pt>
    <dgm:pt modelId="{04788219-8F35-434A-ABE6-C5B9F3E8EBED}" type="sibTrans" cxnId="{84856933-7C40-4F20-B3F7-B207D478AAF1}">
      <dgm:prSet/>
      <dgm:spPr/>
      <dgm:t>
        <a:bodyPr/>
        <a:lstStyle/>
        <a:p>
          <a:endParaRPr lang="en-US"/>
        </a:p>
      </dgm:t>
    </dgm:pt>
    <dgm:pt modelId="{58735F83-2A1E-45D5-9DCC-C16604D1B17E}">
      <dgm:prSet phldr="0"/>
      <dgm:spPr/>
      <dgm:t>
        <a:bodyPr/>
        <a:lstStyle/>
        <a:p>
          <a:r>
            <a:rPr lang="en-US" sz="1400" b="1">
              <a:latin typeface="Aptos"/>
              <a:ea typeface="+mn-ea"/>
              <a:cs typeface="+mn-cs"/>
            </a:rPr>
            <a:t>Pilot &amp; field testing </a:t>
          </a:r>
        </a:p>
      </dgm:t>
    </dgm:pt>
    <dgm:pt modelId="{B7B2F8EC-B83F-402E-8BDE-149BC594C2A9}" type="parTrans" cxnId="{9FF4E2F7-C507-438F-9E4D-921A11C920D1}">
      <dgm:prSet/>
      <dgm:spPr/>
      <dgm:t>
        <a:bodyPr/>
        <a:lstStyle/>
        <a:p>
          <a:endParaRPr lang="en-US"/>
        </a:p>
      </dgm:t>
    </dgm:pt>
    <dgm:pt modelId="{38C16E37-1F28-45B0-B8AC-48BE9ECDC6FD}" type="sibTrans" cxnId="{9FF4E2F7-C507-438F-9E4D-921A11C920D1}">
      <dgm:prSet/>
      <dgm:spPr/>
      <dgm:t>
        <a:bodyPr/>
        <a:lstStyle/>
        <a:p>
          <a:endParaRPr lang="en-US"/>
        </a:p>
      </dgm:t>
    </dgm:pt>
    <dgm:pt modelId="{CB0BF676-1CD6-43BC-9123-B791A409B750}">
      <dgm:prSet phldr="0"/>
      <dgm:spPr/>
      <dgm:t>
        <a:bodyPr/>
        <a:lstStyle/>
        <a:p>
          <a:r>
            <a:rPr lang="en-US" sz="1400" b="1">
              <a:latin typeface="Aptos"/>
              <a:ea typeface="+mn-ea"/>
              <a:cs typeface="+mn-cs"/>
            </a:rPr>
            <a:t>Texas expansion</a:t>
          </a:r>
        </a:p>
      </dgm:t>
    </dgm:pt>
    <dgm:pt modelId="{C1A9FA90-814E-4429-973F-EB79B6306B1E}" type="parTrans" cxnId="{857B4997-6C9B-408A-9BCB-C5F1C6102D5A}">
      <dgm:prSet/>
      <dgm:spPr/>
      <dgm:t>
        <a:bodyPr/>
        <a:lstStyle/>
        <a:p>
          <a:endParaRPr lang="en-US"/>
        </a:p>
      </dgm:t>
    </dgm:pt>
    <dgm:pt modelId="{3D869F41-AEC3-46E3-8A0A-8C19DFF6178A}" type="sibTrans" cxnId="{857B4997-6C9B-408A-9BCB-C5F1C6102D5A}">
      <dgm:prSet/>
      <dgm:spPr/>
      <dgm:t>
        <a:bodyPr/>
        <a:lstStyle/>
        <a:p>
          <a:endParaRPr lang="en-US"/>
        </a:p>
      </dgm:t>
    </dgm:pt>
    <dgm:pt modelId="{7B61AE88-3852-4BB8-A8C3-42A14813D054}">
      <dgm:prSet phldr="0"/>
      <dgm:spPr/>
      <dgm:t>
        <a:bodyPr/>
        <a:lstStyle/>
        <a:p>
          <a:r>
            <a:rPr lang="en-US" sz="1400" b="1">
              <a:latin typeface="Aptos" panose="020B0004020202020204"/>
              <a:ea typeface="+mn-ea"/>
              <a:cs typeface="+mn-cs"/>
            </a:rPr>
            <a:t>Regional expansion</a:t>
          </a:r>
        </a:p>
      </dgm:t>
    </dgm:pt>
    <dgm:pt modelId="{7F729BD8-9A25-4315-9947-C6021C471181}" type="parTrans" cxnId="{EDC25A89-8A68-4E97-8C80-81FC79E958B1}">
      <dgm:prSet/>
      <dgm:spPr/>
      <dgm:t>
        <a:bodyPr/>
        <a:lstStyle/>
        <a:p>
          <a:endParaRPr lang="en-US"/>
        </a:p>
      </dgm:t>
    </dgm:pt>
    <dgm:pt modelId="{DE3D7F2D-ABAF-40FB-A77E-F9410155FCAE}" type="sibTrans" cxnId="{EDC25A89-8A68-4E97-8C80-81FC79E958B1}">
      <dgm:prSet/>
      <dgm:spPr/>
      <dgm:t>
        <a:bodyPr/>
        <a:lstStyle/>
        <a:p>
          <a:endParaRPr lang="en-US"/>
        </a:p>
      </dgm:t>
    </dgm:pt>
    <dgm:pt modelId="{944665EA-9F4E-4064-A3C0-E13E6C6364C2}">
      <dgm:prSet phldr="0"/>
      <dgm:spPr/>
      <dgm:t>
        <a:bodyPr/>
        <a:lstStyle/>
        <a:p>
          <a:r>
            <a:rPr lang="en-US" sz="1400" b="1">
              <a:latin typeface="Aptos"/>
              <a:ea typeface="+mn-ea"/>
              <a:cs typeface="+mn-cs"/>
            </a:rPr>
            <a:t>National expansion</a:t>
          </a:r>
        </a:p>
      </dgm:t>
    </dgm:pt>
    <dgm:pt modelId="{71173470-4877-49D5-AEF9-09F7B1C19B17}" type="parTrans" cxnId="{42FB1416-F257-45DE-972D-A8C712D26DF3}">
      <dgm:prSet/>
      <dgm:spPr/>
      <dgm:t>
        <a:bodyPr/>
        <a:lstStyle/>
        <a:p>
          <a:endParaRPr lang="en-US"/>
        </a:p>
      </dgm:t>
    </dgm:pt>
    <dgm:pt modelId="{54182983-7755-472C-B8AD-DA41E42EA1BD}" type="sibTrans" cxnId="{42FB1416-F257-45DE-972D-A8C712D26DF3}">
      <dgm:prSet/>
      <dgm:spPr/>
      <dgm:t>
        <a:bodyPr/>
        <a:lstStyle/>
        <a:p>
          <a:endParaRPr lang="en-US"/>
        </a:p>
      </dgm:t>
    </dgm:pt>
    <dgm:pt modelId="{8FB3CBAD-3C9D-4F9D-8F60-96C7E29994D9}">
      <dgm:prSet phldr="0"/>
      <dgm:spPr/>
      <dgm:t>
        <a:bodyPr/>
        <a:lstStyle/>
        <a:p>
          <a:r>
            <a:rPr lang="en-US" sz="1400">
              <a:latin typeface="Aptos"/>
              <a:ea typeface="+mn-ea"/>
              <a:cs typeface="+mn-cs"/>
            </a:rPr>
            <a:t>Research and development</a:t>
          </a:r>
        </a:p>
        <a:p>
          <a:r>
            <a:rPr lang="en-US" sz="1400">
              <a:latin typeface="Aptos"/>
              <a:ea typeface="+mn-ea"/>
              <a:cs typeface="+mn-cs"/>
            </a:rPr>
            <a:t>Finalize composite formulation</a:t>
          </a:r>
        </a:p>
      </dgm:t>
    </dgm:pt>
    <dgm:pt modelId="{6C8A3EE2-408C-4C09-9EE5-1D53A5041677}" type="parTrans" cxnId="{136BF0F2-619F-40B9-8F5B-0F0C30B3FD54}">
      <dgm:prSet/>
      <dgm:spPr/>
      <dgm:t>
        <a:bodyPr/>
        <a:lstStyle/>
        <a:p>
          <a:endParaRPr lang="en-US"/>
        </a:p>
      </dgm:t>
    </dgm:pt>
    <dgm:pt modelId="{9752DC66-F730-4787-95A2-D4439D8B53B0}" type="sibTrans" cxnId="{136BF0F2-619F-40B9-8F5B-0F0C30B3FD54}">
      <dgm:prSet/>
      <dgm:spPr/>
      <dgm:t>
        <a:bodyPr/>
        <a:lstStyle/>
        <a:p>
          <a:endParaRPr lang="en-US"/>
        </a:p>
      </dgm:t>
    </dgm:pt>
    <dgm:pt modelId="{BEFF934B-C659-4EE0-88E0-6847C4B52892}">
      <dgm:prSet phldr="0"/>
      <dgm:spPr/>
      <dgm:t>
        <a:bodyPr/>
        <a:lstStyle/>
        <a:p>
          <a:r>
            <a:rPr lang="en-US" sz="1400" b="1">
              <a:solidFill>
                <a:srgbClr val="196B24"/>
              </a:solidFill>
              <a:latin typeface="Aptos"/>
              <a:ea typeface="+mn-ea"/>
              <a:cs typeface="+mn-cs"/>
            </a:rPr>
            <a:t>Ties sold: 0</a:t>
          </a:r>
        </a:p>
      </dgm:t>
    </dgm:pt>
    <dgm:pt modelId="{388A6C7C-A5AB-48BE-ABC5-E580A612E29C}" type="parTrans" cxnId="{65E51306-9858-4717-BF58-A642F5A6F864}">
      <dgm:prSet/>
      <dgm:spPr/>
      <dgm:t>
        <a:bodyPr/>
        <a:lstStyle/>
        <a:p>
          <a:endParaRPr lang="en-US"/>
        </a:p>
      </dgm:t>
    </dgm:pt>
    <dgm:pt modelId="{591E018E-C870-4B05-A09F-F0511A1DACB5}" type="sibTrans" cxnId="{65E51306-9858-4717-BF58-A642F5A6F864}">
      <dgm:prSet/>
      <dgm:spPr/>
      <dgm:t>
        <a:bodyPr/>
        <a:lstStyle/>
        <a:p>
          <a:endParaRPr lang="en-US"/>
        </a:p>
      </dgm:t>
    </dgm:pt>
    <dgm:pt modelId="{FD45C112-B212-4D05-A738-35B82B107F66}">
      <dgm:prSet phldr="0"/>
      <dgm:spPr/>
      <dgm:t>
        <a:bodyPr/>
        <a:lstStyle/>
        <a:p>
          <a:r>
            <a:rPr lang="en-US" sz="1400">
              <a:latin typeface="Aptos"/>
              <a:ea typeface="+mn-ea"/>
              <a:cs typeface="+mn-cs"/>
            </a:rPr>
            <a:t>Expand capabilities for</a:t>
          </a:r>
          <a:r>
            <a:rPr lang="en-US" sz="1400" b="0">
              <a:latin typeface="Aptos"/>
              <a:ea typeface="+mn-ea"/>
              <a:cs typeface="+mn-cs"/>
            </a:rPr>
            <a:t> increased production</a:t>
          </a:r>
          <a:endParaRPr lang="en-US" sz="1400">
            <a:latin typeface="Aptos"/>
            <a:ea typeface="+mn-ea"/>
            <a:cs typeface="+mn-cs"/>
          </a:endParaRPr>
        </a:p>
      </dgm:t>
    </dgm:pt>
    <dgm:pt modelId="{D9E9F07D-4250-47AF-B3EF-0432D887E6EA}" type="parTrans" cxnId="{28B4F991-0D34-47FD-9B7B-94BE9D34A1EA}">
      <dgm:prSet/>
      <dgm:spPr/>
      <dgm:t>
        <a:bodyPr/>
        <a:lstStyle/>
        <a:p>
          <a:endParaRPr lang="en-US"/>
        </a:p>
      </dgm:t>
    </dgm:pt>
    <dgm:pt modelId="{C405F63C-0032-4110-B7ED-BBD1C1EC9D73}" type="sibTrans" cxnId="{28B4F991-0D34-47FD-9B7B-94BE9D34A1EA}">
      <dgm:prSet/>
      <dgm:spPr/>
      <dgm:t>
        <a:bodyPr/>
        <a:lstStyle/>
        <a:p>
          <a:endParaRPr lang="en-US"/>
        </a:p>
      </dgm:t>
    </dgm:pt>
    <dgm:pt modelId="{010AAF27-30E9-42B2-AA03-55942D15FE8F}">
      <dgm:prSet phldr="0"/>
      <dgm:spPr/>
      <dgm:t>
        <a:bodyPr/>
        <a:lstStyle/>
        <a:p>
          <a:r>
            <a:rPr lang="en-US" sz="1400" b="0">
              <a:latin typeface="Aptos"/>
              <a:ea typeface="+mn-ea"/>
              <a:cs typeface="+mn-cs"/>
            </a:rPr>
            <a:t>Keep within Bryan - College Station, TX</a:t>
          </a:r>
        </a:p>
      </dgm:t>
    </dgm:pt>
    <dgm:pt modelId="{A650B384-9EE3-4ECA-A7FC-93700180EE53}" type="parTrans" cxnId="{2AD7C6E2-D97D-484E-B334-03E19979B47C}">
      <dgm:prSet/>
      <dgm:spPr/>
      <dgm:t>
        <a:bodyPr/>
        <a:lstStyle/>
        <a:p>
          <a:endParaRPr lang="en-US"/>
        </a:p>
      </dgm:t>
    </dgm:pt>
    <dgm:pt modelId="{5C4AEB8E-E42B-49D2-A9D1-2C869F903847}" type="sibTrans" cxnId="{2AD7C6E2-D97D-484E-B334-03E19979B47C}">
      <dgm:prSet/>
      <dgm:spPr/>
      <dgm:t>
        <a:bodyPr/>
        <a:lstStyle/>
        <a:p>
          <a:endParaRPr lang="en-US"/>
        </a:p>
      </dgm:t>
    </dgm:pt>
    <dgm:pt modelId="{46332440-1B09-4877-B598-1101BD9DF41B}">
      <dgm:prSet phldr="0"/>
      <dgm:spPr/>
      <dgm:t>
        <a:bodyPr/>
        <a:lstStyle/>
        <a:p>
          <a:r>
            <a:rPr lang="en-US" sz="1400" b="1">
              <a:solidFill>
                <a:srgbClr val="196B24"/>
              </a:solidFill>
              <a:latin typeface="Aptos"/>
              <a:ea typeface="+mn-ea"/>
              <a:cs typeface="+mn-cs"/>
            </a:rPr>
            <a:t>Ties sold: 1.8K</a:t>
          </a:r>
        </a:p>
      </dgm:t>
    </dgm:pt>
    <dgm:pt modelId="{191A01EC-F666-4F4E-89CF-69035CBB402F}" type="parTrans" cxnId="{6734F31A-2E71-4AFB-90BF-BE54E488FD6A}">
      <dgm:prSet/>
      <dgm:spPr/>
      <dgm:t>
        <a:bodyPr/>
        <a:lstStyle/>
        <a:p>
          <a:endParaRPr lang="en-US"/>
        </a:p>
      </dgm:t>
    </dgm:pt>
    <dgm:pt modelId="{F08B24E2-BD59-470A-9EBB-4F8F859EAA3A}" type="sibTrans" cxnId="{6734F31A-2E71-4AFB-90BF-BE54E488FD6A}">
      <dgm:prSet/>
      <dgm:spPr/>
      <dgm:t>
        <a:bodyPr/>
        <a:lstStyle/>
        <a:p>
          <a:endParaRPr lang="en-US"/>
        </a:p>
      </dgm:t>
    </dgm:pt>
    <dgm:pt modelId="{34C08876-0FC7-4F04-8BCB-B63C89E14706}">
      <dgm:prSet phldr="0"/>
      <dgm:spPr/>
      <dgm:t>
        <a:bodyPr/>
        <a:lstStyle/>
        <a:p>
          <a:r>
            <a:rPr lang="en-US" sz="1400" b="0">
              <a:latin typeface="Aptos"/>
              <a:ea typeface="+mn-ea"/>
              <a:cs typeface="+mn-cs"/>
            </a:rPr>
            <a:t>First Factory</a:t>
          </a:r>
        </a:p>
      </dgm:t>
    </dgm:pt>
    <dgm:pt modelId="{53089DD0-8657-4FD2-A2FC-907FE08638F0}" type="parTrans" cxnId="{A332A48A-DD78-444D-B3D8-382EF7AE103E}">
      <dgm:prSet/>
      <dgm:spPr/>
      <dgm:t>
        <a:bodyPr/>
        <a:lstStyle/>
        <a:p>
          <a:endParaRPr lang="en-US"/>
        </a:p>
      </dgm:t>
    </dgm:pt>
    <dgm:pt modelId="{6B5B37A5-77D5-4F48-BA6D-DF3956413C7D}" type="sibTrans" cxnId="{A332A48A-DD78-444D-B3D8-382EF7AE103E}">
      <dgm:prSet/>
      <dgm:spPr/>
      <dgm:t>
        <a:bodyPr/>
        <a:lstStyle/>
        <a:p>
          <a:endParaRPr lang="en-US"/>
        </a:p>
      </dgm:t>
    </dgm:pt>
    <dgm:pt modelId="{4ECF69D0-E2A3-4A9E-BF68-0159A405A4D1}">
      <dgm:prSet phldr="0"/>
      <dgm:spPr/>
      <dgm:t>
        <a:bodyPr/>
        <a:lstStyle/>
        <a:p>
          <a:r>
            <a:rPr lang="en-US" sz="1400" b="0">
              <a:latin typeface="Aptos"/>
              <a:ea typeface="+mn-ea"/>
              <a:cs typeface="+mn-cs"/>
            </a:rPr>
            <a:t>Pitch to Union Pacific &amp; expand within TX</a:t>
          </a:r>
        </a:p>
      </dgm:t>
    </dgm:pt>
    <dgm:pt modelId="{2AF2A6D3-BD38-465F-926C-D020B3D2643A}" type="parTrans" cxnId="{1DD23502-F6EF-4E89-99A9-569E79205881}">
      <dgm:prSet/>
      <dgm:spPr/>
      <dgm:t>
        <a:bodyPr/>
        <a:lstStyle/>
        <a:p>
          <a:endParaRPr lang="en-US"/>
        </a:p>
      </dgm:t>
    </dgm:pt>
    <dgm:pt modelId="{1CF4B64E-584B-489D-BA1C-EA98B502979D}" type="sibTrans" cxnId="{1DD23502-F6EF-4E89-99A9-569E79205881}">
      <dgm:prSet/>
      <dgm:spPr/>
      <dgm:t>
        <a:bodyPr/>
        <a:lstStyle/>
        <a:p>
          <a:endParaRPr lang="en-US"/>
        </a:p>
      </dgm:t>
    </dgm:pt>
    <dgm:pt modelId="{7780B901-DE80-4650-84CB-EA102299BAA5}">
      <dgm:prSet phldr="0"/>
      <dgm:spPr/>
      <dgm:t>
        <a:bodyPr/>
        <a:lstStyle/>
        <a:p>
          <a:r>
            <a:rPr lang="en-US" sz="1400" b="1">
              <a:solidFill>
                <a:srgbClr val="196B24"/>
              </a:solidFill>
              <a:latin typeface="Aptos"/>
              <a:ea typeface="+mn-ea"/>
              <a:cs typeface="+mn-cs"/>
            </a:rPr>
            <a:t>Ties sold: 18k</a:t>
          </a:r>
        </a:p>
      </dgm:t>
    </dgm:pt>
    <dgm:pt modelId="{50311B03-1551-4FA7-B687-02CF4D59D0DA}" type="parTrans" cxnId="{D330921E-E854-47F1-9733-DA22C698F193}">
      <dgm:prSet/>
      <dgm:spPr/>
      <dgm:t>
        <a:bodyPr/>
        <a:lstStyle/>
        <a:p>
          <a:endParaRPr lang="en-US"/>
        </a:p>
      </dgm:t>
    </dgm:pt>
    <dgm:pt modelId="{350A7B15-A404-40CA-B69A-F00BF3263A2C}" type="sibTrans" cxnId="{D330921E-E854-47F1-9733-DA22C698F193}">
      <dgm:prSet/>
      <dgm:spPr/>
      <dgm:t>
        <a:bodyPr/>
        <a:lstStyle/>
        <a:p>
          <a:endParaRPr lang="en-US"/>
        </a:p>
      </dgm:t>
    </dgm:pt>
    <dgm:pt modelId="{1E43357C-480D-4A3E-A29F-1E276109BD8F}">
      <dgm:prSet phldr="0"/>
      <dgm:spPr/>
      <dgm:t>
        <a:bodyPr/>
        <a:lstStyle/>
        <a:p>
          <a:r>
            <a:rPr lang="en-US" sz="1400" b="0">
              <a:latin typeface="Aptos"/>
              <a:ea typeface="+mn-ea"/>
              <a:cs typeface="+mn-cs"/>
            </a:rPr>
            <a:t>Scale</a:t>
          </a:r>
          <a:r>
            <a:rPr lang="en-US" sz="1400">
              <a:latin typeface="Aptos"/>
              <a:ea typeface="+mn-ea"/>
              <a:cs typeface="+mn-cs"/>
            </a:rPr>
            <a:t> production and </a:t>
          </a:r>
          <a:r>
            <a:rPr lang="en-US" sz="1400" b="0">
              <a:latin typeface="Aptos"/>
              <a:ea typeface="+mn-ea"/>
              <a:cs typeface="+mn-cs"/>
            </a:rPr>
            <a:t>logistics</a:t>
          </a:r>
        </a:p>
      </dgm:t>
    </dgm:pt>
    <dgm:pt modelId="{10279850-1073-4DE9-9099-F5FEF8090B3D}" type="parTrans" cxnId="{66C2705A-1657-4E8F-828B-10D2565FF23D}">
      <dgm:prSet/>
      <dgm:spPr/>
      <dgm:t>
        <a:bodyPr/>
        <a:lstStyle/>
        <a:p>
          <a:endParaRPr lang="en-US"/>
        </a:p>
      </dgm:t>
    </dgm:pt>
    <dgm:pt modelId="{708FDDE9-2DEB-4AEC-80F5-C464E51356B3}" type="sibTrans" cxnId="{66C2705A-1657-4E8F-828B-10D2565FF23D}">
      <dgm:prSet/>
      <dgm:spPr/>
      <dgm:t>
        <a:bodyPr/>
        <a:lstStyle/>
        <a:p>
          <a:endParaRPr lang="en-US"/>
        </a:p>
      </dgm:t>
    </dgm:pt>
    <dgm:pt modelId="{590DB729-79A6-4C0A-A589-F628E800C667}">
      <dgm:prSet phldr="0"/>
      <dgm:spPr/>
      <dgm:t>
        <a:bodyPr/>
        <a:lstStyle/>
        <a:p>
          <a:r>
            <a:rPr lang="en-US" sz="1400" b="0">
              <a:latin typeface="Aptos"/>
              <a:ea typeface="+mn-ea"/>
              <a:cs typeface="+mn-cs"/>
            </a:rPr>
            <a:t>Expand within Southern US</a:t>
          </a:r>
        </a:p>
      </dgm:t>
    </dgm:pt>
    <dgm:pt modelId="{7F2B53AA-8B0B-4245-8A4D-3949D93C9580}" type="parTrans" cxnId="{B12CD531-3E2D-4558-8D47-4F19C6665879}">
      <dgm:prSet/>
      <dgm:spPr/>
      <dgm:t>
        <a:bodyPr/>
        <a:lstStyle/>
        <a:p>
          <a:endParaRPr lang="en-US"/>
        </a:p>
      </dgm:t>
    </dgm:pt>
    <dgm:pt modelId="{97066EC1-4615-44D5-9D87-3A0CB3B210CD}" type="sibTrans" cxnId="{B12CD531-3E2D-4558-8D47-4F19C6665879}">
      <dgm:prSet/>
      <dgm:spPr/>
      <dgm:t>
        <a:bodyPr/>
        <a:lstStyle/>
        <a:p>
          <a:endParaRPr lang="en-US"/>
        </a:p>
      </dgm:t>
    </dgm:pt>
    <dgm:pt modelId="{77D18FFD-A075-4A5B-8CA7-3B53147FC4CC}">
      <dgm:prSet phldr="0"/>
      <dgm:spPr/>
      <dgm:t>
        <a:bodyPr/>
        <a:lstStyle/>
        <a:p>
          <a:r>
            <a:rPr lang="en-US" sz="1400" b="1">
              <a:solidFill>
                <a:srgbClr val="196B24"/>
              </a:solidFill>
              <a:latin typeface="Aptos"/>
              <a:ea typeface="+mn-ea"/>
              <a:cs typeface="+mn-cs"/>
            </a:rPr>
            <a:t>Ties sold: 90k</a:t>
          </a:r>
          <a:endParaRPr lang="en-US" sz="1400">
            <a:solidFill>
              <a:srgbClr val="196B24"/>
            </a:solidFill>
            <a:latin typeface="Aptos" panose="020B0004020202020204"/>
            <a:ea typeface="+mn-ea"/>
            <a:cs typeface="+mn-cs"/>
          </a:endParaRPr>
        </a:p>
      </dgm:t>
    </dgm:pt>
    <dgm:pt modelId="{DD5A547B-F084-46B1-AA8C-787BE85E320B}" type="parTrans" cxnId="{AA942A3E-6EF1-4045-993D-24DA63CFC8D7}">
      <dgm:prSet/>
      <dgm:spPr/>
      <dgm:t>
        <a:bodyPr/>
        <a:lstStyle/>
        <a:p>
          <a:endParaRPr lang="en-US"/>
        </a:p>
      </dgm:t>
    </dgm:pt>
    <dgm:pt modelId="{DC626EBF-A4EA-4B85-A413-F7C879F0B54A}" type="sibTrans" cxnId="{AA942A3E-6EF1-4045-993D-24DA63CFC8D7}">
      <dgm:prSet/>
      <dgm:spPr/>
      <dgm:t>
        <a:bodyPr/>
        <a:lstStyle/>
        <a:p>
          <a:endParaRPr lang="en-US"/>
        </a:p>
      </dgm:t>
    </dgm:pt>
    <dgm:pt modelId="{00618D92-15A8-4DAB-A8D6-3B080B348240}">
      <dgm:prSet phldr="0"/>
      <dgm:spPr/>
      <dgm:t>
        <a:bodyPr/>
        <a:lstStyle/>
        <a:p>
          <a:r>
            <a:rPr lang="en-US" sz="1400">
              <a:latin typeface="Aptos"/>
              <a:ea typeface="+mn-ea"/>
              <a:cs typeface="+mn-cs"/>
            </a:rPr>
            <a:t>Expand deployments to railroad corridors</a:t>
          </a:r>
        </a:p>
        <a:p>
          <a:r>
            <a:rPr lang="en-US" sz="1400">
              <a:latin typeface="Aptos"/>
              <a:ea typeface="+mn-ea"/>
              <a:cs typeface="+mn-cs"/>
            </a:rPr>
            <a:t>Develop next-generation composite formulation</a:t>
          </a:r>
        </a:p>
      </dgm:t>
    </dgm:pt>
    <dgm:pt modelId="{02344A85-E029-4763-92F8-B373A2C67917}" type="parTrans" cxnId="{84809944-6823-477B-8B96-1740CF11D1AB}">
      <dgm:prSet/>
      <dgm:spPr/>
      <dgm:t>
        <a:bodyPr/>
        <a:lstStyle/>
        <a:p>
          <a:endParaRPr lang="en-US"/>
        </a:p>
      </dgm:t>
    </dgm:pt>
    <dgm:pt modelId="{EC5B1281-62FB-4E69-9F0D-A7071B6CD0E7}" type="sibTrans" cxnId="{84809944-6823-477B-8B96-1740CF11D1AB}">
      <dgm:prSet/>
      <dgm:spPr/>
      <dgm:t>
        <a:bodyPr/>
        <a:lstStyle/>
        <a:p>
          <a:endParaRPr lang="en-US"/>
        </a:p>
      </dgm:t>
    </dgm:pt>
    <dgm:pt modelId="{A0D2DF3A-CE21-4223-A054-A42A1F0D0D2A}">
      <dgm:prSet phldr="0"/>
      <dgm:spPr/>
      <dgm:t>
        <a:bodyPr/>
        <a:lstStyle/>
        <a:p>
          <a:r>
            <a:rPr lang="en-US" sz="1400" b="1">
              <a:solidFill>
                <a:srgbClr val="196B24"/>
              </a:solidFill>
              <a:latin typeface="Aptos"/>
              <a:ea typeface="+mn-ea"/>
              <a:cs typeface="+mn-cs"/>
            </a:rPr>
            <a:t>Ties sold: 300k </a:t>
          </a:r>
          <a:endParaRPr lang="en-US" sz="1400">
            <a:solidFill>
              <a:srgbClr val="196B24"/>
            </a:solidFill>
            <a:latin typeface="Aptos" panose="020B0004020202020204"/>
            <a:ea typeface="+mn-ea"/>
            <a:cs typeface="+mn-cs"/>
          </a:endParaRPr>
        </a:p>
      </dgm:t>
    </dgm:pt>
    <dgm:pt modelId="{F86869E8-B930-4D64-8194-282DED0B0C19}" type="parTrans" cxnId="{BA066932-35D0-4658-AC7D-C717F2E3D7E2}">
      <dgm:prSet/>
      <dgm:spPr/>
      <dgm:t>
        <a:bodyPr/>
        <a:lstStyle/>
        <a:p>
          <a:endParaRPr lang="en-US"/>
        </a:p>
      </dgm:t>
    </dgm:pt>
    <dgm:pt modelId="{0593B8E9-E16D-4642-B3F1-B97943632BB1}" type="sibTrans" cxnId="{BA066932-35D0-4658-AC7D-C717F2E3D7E2}">
      <dgm:prSet/>
      <dgm:spPr/>
      <dgm:t>
        <a:bodyPr/>
        <a:lstStyle/>
        <a:p>
          <a:endParaRPr lang="en-US"/>
        </a:p>
      </dgm:t>
    </dgm:pt>
    <dgm:pt modelId="{866BF456-29CC-4F84-9BC0-970AF617F6D1}" type="pres">
      <dgm:prSet presAssocID="{3E2BC948-C19F-4095-9D24-2BDAFCCA8EFC}" presName="root" presStyleCnt="0">
        <dgm:presLayoutVars>
          <dgm:chMax/>
          <dgm:chPref/>
          <dgm:animLvl val="lvl"/>
        </dgm:presLayoutVars>
      </dgm:prSet>
      <dgm:spPr/>
    </dgm:pt>
    <dgm:pt modelId="{4A104D62-0B82-4674-AFCD-FF85FB80A213}" type="pres">
      <dgm:prSet presAssocID="{3E2BC948-C19F-4095-9D24-2BDAFCCA8EFC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6DCE4056-ADB1-49A8-8996-5A63175B33CC}" type="pres">
      <dgm:prSet presAssocID="{3E2BC948-C19F-4095-9D24-2BDAFCCA8EFC}" presName="nodes" presStyleCnt="0">
        <dgm:presLayoutVars>
          <dgm:chMax/>
          <dgm:chPref/>
          <dgm:animLvl val="lvl"/>
        </dgm:presLayoutVars>
      </dgm:prSet>
      <dgm:spPr/>
    </dgm:pt>
    <dgm:pt modelId="{05B0197C-EAAF-466B-B3B4-834CD9AAD759}" type="pres">
      <dgm:prSet presAssocID="{ECD112E0-2461-46B9-9618-A6DA374F181F}" presName="composite" presStyleCnt="0"/>
      <dgm:spPr/>
    </dgm:pt>
    <dgm:pt modelId="{1A84F0AA-ECF1-4832-91C6-BAED0B0355D0}" type="pres">
      <dgm:prSet presAssocID="{ECD112E0-2461-46B9-9618-A6DA374F181F}" presName="ConnectorPoint" presStyleLbl="lnNode1" presStyleIdx="0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56380BF-DBE1-4A5F-8717-DFD79CF38269}" type="pres">
      <dgm:prSet presAssocID="{ECD112E0-2461-46B9-9618-A6DA374F181F}" presName="DropPinPlaceHolder" presStyleCnt="0"/>
      <dgm:spPr/>
    </dgm:pt>
    <dgm:pt modelId="{FC5CB866-6A94-4560-9BE2-C1BB99FFA4DE}" type="pres">
      <dgm:prSet presAssocID="{ECD112E0-2461-46B9-9618-A6DA374F181F}" presName="DropPin" presStyleLbl="alignNode1" presStyleIdx="0" presStyleCnt="5"/>
      <dgm:spPr/>
    </dgm:pt>
    <dgm:pt modelId="{730D5CE3-2068-445C-9215-91EBB87B83B1}" type="pres">
      <dgm:prSet presAssocID="{ECD112E0-2461-46B9-9618-A6DA374F181F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1C8104A-41B0-4D44-BFF2-A797E0AE2356}" type="pres">
      <dgm:prSet presAssocID="{ECD112E0-2461-46B9-9618-A6DA374F181F}" presName="L2TextContainer" presStyleLbl="revTx" presStyleIdx="0" presStyleCnt="10">
        <dgm:presLayoutVars>
          <dgm:bulletEnabled val="1"/>
        </dgm:presLayoutVars>
      </dgm:prSet>
      <dgm:spPr/>
    </dgm:pt>
    <dgm:pt modelId="{BA5BC53C-E4CA-405C-8073-281792A1EE33}" type="pres">
      <dgm:prSet presAssocID="{ECD112E0-2461-46B9-9618-A6DA374F181F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5C1FEEE8-4EA2-4A1D-BA0F-FAE71862A46D}" type="pres">
      <dgm:prSet presAssocID="{ECD112E0-2461-46B9-9618-A6DA374F181F}" presName="ConnectLine" presStyleLbl="sibTrans1D1" presStyleIdx="0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BB274A6A-7FD3-4400-BA0B-ACD5098FE885}" type="pres">
      <dgm:prSet presAssocID="{ECD112E0-2461-46B9-9618-A6DA374F181F}" presName="EmptyPlaceHolder" presStyleCnt="0"/>
      <dgm:spPr/>
    </dgm:pt>
    <dgm:pt modelId="{1A59AE5B-26FE-4BF9-8270-5B509128B884}" type="pres">
      <dgm:prSet presAssocID="{EBBDBDAC-8FA4-4C9F-BC19-02F0424EE573}" presName="spaceBetweenRectangles" presStyleCnt="0"/>
      <dgm:spPr/>
    </dgm:pt>
    <dgm:pt modelId="{385F2413-98A5-4699-8A3D-2EE798FCF14D}" type="pres">
      <dgm:prSet presAssocID="{BB80DDF5-D98A-44E4-9702-09C684F00975}" presName="composite" presStyleCnt="0"/>
      <dgm:spPr/>
    </dgm:pt>
    <dgm:pt modelId="{41A8503B-507E-4DD8-8DC1-BAAB4F617FBF}" type="pres">
      <dgm:prSet presAssocID="{BB80DDF5-D98A-44E4-9702-09C684F00975}" presName="ConnectorPoint" presStyleLbl="lnNode1" presStyleIdx="1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8265D0A-5823-4318-B643-250B82860FA7}" type="pres">
      <dgm:prSet presAssocID="{BB80DDF5-D98A-44E4-9702-09C684F00975}" presName="DropPinPlaceHolder" presStyleCnt="0"/>
      <dgm:spPr/>
    </dgm:pt>
    <dgm:pt modelId="{6AA59496-6750-4C9F-A877-D92F312BB463}" type="pres">
      <dgm:prSet presAssocID="{BB80DDF5-D98A-44E4-9702-09C684F00975}" presName="DropPin" presStyleLbl="alignNode1" presStyleIdx="1" presStyleCnt="5"/>
      <dgm:spPr/>
    </dgm:pt>
    <dgm:pt modelId="{E026D153-6BC4-4242-B308-86334872BF3F}" type="pres">
      <dgm:prSet presAssocID="{BB80DDF5-D98A-44E4-9702-09C684F00975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141D6724-5884-47BF-8803-74EB5689D58A}" type="pres">
      <dgm:prSet presAssocID="{BB80DDF5-D98A-44E4-9702-09C684F00975}" presName="L2TextContainer" presStyleLbl="revTx" presStyleIdx="2" presStyleCnt="10">
        <dgm:presLayoutVars>
          <dgm:bulletEnabled val="1"/>
        </dgm:presLayoutVars>
      </dgm:prSet>
      <dgm:spPr/>
    </dgm:pt>
    <dgm:pt modelId="{5A0E7FEC-6A6E-498B-B5CF-F8E210125814}" type="pres">
      <dgm:prSet presAssocID="{BB80DDF5-D98A-44E4-9702-09C684F00975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CB72CA1A-64E3-457B-9F66-CDF46F7FE10C}" type="pres">
      <dgm:prSet presAssocID="{BB80DDF5-D98A-44E4-9702-09C684F00975}" presName="ConnectLine" presStyleLbl="sibTrans1D1" presStyleIdx="1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8EE86F2-3E3A-4633-A05C-A7BE93BED403}" type="pres">
      <dgm:prSet presAssocID="{BB80DDF5-D98A-44E4-9702-09C684F00975}" presName="EmptyPlaceHolder" presStyleCnt="0"/>
      <dgm:spPr/>
    </dgm:pt>
    <dgm:pt modelId="{62B47785-AA6B-4D61-B73C-7D0CB09E258E}" type="pres">
      <dgm:prSet presAssocID="{B99AA754-1E62-4D80-A094-A025B20EE223}" presName="spaceBetweenRectangles" presStyleCnt="0"/>
      <dgm:spPr/>
    </dgm:pt>
    <dgm:pt modelId="{880110F4-F942-467D-8EBC-C06621677731}" type="pres">
      <dgm:prSet presAssocID="{6C379E8F-7501-411C-85AD-824371AA0C7D}" presName="composite" presStyleCnt="0"/>
      <dgm:spPr/>
    </dgm:pt>
    <dgm:pt modelId="{81C4228C-9109-4D36-9741-751ED2494F30}" type="pres">
      <dgm:prSet presAssocID="{6C379E8F-7501-411C-85AD-824371AA0C7D}" presName="ConnectorPoint" presStyleLbl="lnNode1" presStyleIdx="2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2A4284D-FB3C-48CC-BBEB-A8D721781BD6}" type="pres">
      <dgm:prSet presAssocID="{6C379E8F-7501-411C-85AD-824371AA0C7D}" presName="DropPinPlaceHolder" presStyleCnt="0"/>
      <dgm:spPr/>
    </dgm:pt>
    <dgm:pt modelId="{3C392DDD-426C-4B4B-A8D1-F295C0BC6D74}" type="pres">
      <dgm:prSet presAssocID="{6C379E8F-7501-411C-85AD-824371AA0C7D}" presName="DropPin" presStyleLbl="alignNode1" presStyleIdx="2" presStyleCnt="5"/>
      <dgm:spPr/>
    </dgm:pt>
    <dgm:pt modelId="{BDC38019-9266-4044-8A4B-BCBEDC525A24}" type="pres">
      <dgm:prSet presAssocID="{6C379E8F-7501-411C-85AD-824371AA0C7D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E358DA43-5AD7-4CD3-8250-9151EE902C3C}" type="pres">
      <dgm:prSet presAssocID="{6C379E8F-7501-411C-85AD-824371AA0C7D}" presName="L2TextContainer" presStyleLbl="revTx" presStyleIdx="4" presStyleCnt="10">
        <dgm:presLayoutVars>
          <dgm:bulletEnabled val="1"/>
        </dgm:presLayoutVars>
      </dgm:prSet>
      <dgm:spPr/>
    </dgm:pt>
    <dgm:pt modelId="{9897C780-404F-451D-90EC-D694A1B45B2C}" type="pres">
      <dgm:prSet presAssocID="{6C379E8F-7501-411C-85AD-824371AA0C7D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10C8833C-1274-4E08-B01B-FE6B12C6D7AF}" type="pres">
      <dgm:prSet presAssocID="{6C379E8F-7501-411C-85AD-824371AA0C7D}" presName="ConnectLine" presStyleLbl="sibTrans1D1" presStyleIdx="2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6777298-5BE3-425C-8517-787D998F75FF}" type="pres">
      <dgm:prSet presAssocID="{6C379E8F-7501-411C-85AD-824371AA0C7D}" presName="EmptyPlaceHolder" presStyleCnt="0"/>
      <dgm:spPr/>
    </dgm:pt>
    <dgm:pt modelId="{AD8211FC-6889-4CCE-9552-4A61E4F80D6B}" type="pres">
      <dgm:prSet presAssocID="{89C84841-F0A8-4986-BE49-D0E6CACF2026}" presName="spaceBetweenRectangles" presStyleCnt="0"/>
      <dgm:spPr/>
    </dgm:pt>
    <dgm:pt modelId="{3A49250B-84C1-49C2-99AD-E4275B634A4D}" type="pres">
      <dgm:prSet presAssocID="{B53D40FF-32AB-4ECC-B6C1-9BA8D7C9ED69}" presName="composite" presStyleCnt="0"/>
      <dgm:spPr/>
    </dgm:pt>
    <dgm:pt modelId="{057466EC-2A3D-4F85-B0C3-A5F75CBE3D5C}" type="pres">
      <dgm:prSet presAssocID="{B53D40FF-32AB-4ECC-B6C1-9BA8D7C9ED69}" presName="ConnectorPoint" presStyleLbl="lnNode1" presStyleIdx="3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DF244A5-4D1F-41AC-9182-96BC155C4CF7}" type="pres">
      <dgm:prSet presAssocID="{B53D40FF-32AB-4ECC-B6C1-9BA8D7C9ED69}" presName="DropPinPlaceHolder" presStyleCnt="0"/>
      <dgm:spPr/>
    </dgm:pt>
    <dgm:pt modelId="{009BB112-FEDA-4B51-9BC2-D9B55CE36528}" type="pres">
      <dgm:prSet presAssocID="{B53D40FF-32AB-4ECC-B6C1-9BA8D7C9ED69}" presName="DropPin" presStyleLbl="alignNode1" presStyleIdx="3" presStyleCnt="5"/>
      <dgm:spPr/>
    </dgm:pt>
    <dgm:pt modelId="{67E09FEF-550E-457E-85BA-CA9449794D84}" type="pres">
      <dgm:prSet presAssocID="{B53D40FF-32AB-4ECC-B6C1-9BA8D7C9ED69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F931798-E12B-49F2-90D9-2598C205BADB}" type="pres">
      <dgm:prSet presAssocID="{B53D40FF-32AB-4ECC-B6C1-9BA8D7C9ED69}" presName="L2TextContainer" presStyleLbl="revTx" presStyleIdx="6" presStyleCnt="10">
        <dgm:presLayoutVars>
          <dgm:bulletEnabled val="1"/>
        </dgm:presLayoutVars>
      </dgm:prSet>
      <dgm:spPr/>
    </dgm:pt>
    <dgm:pt modelId="{4B23E061-9CDF-4C4F-A65E-DCA81D6CB743}" type="pres">
      <dgm:prSet presAssocID="{B53D40FF-32AB-4ECC-B6C1-9BA8D7C9ED69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69A8B29F-4499-486C-8AD9-A9C0791E74C6}" type="pres">
      <dgm:prSet presAssocID="{B53D40FF-32AB-4ECC-B6C1-9BA8D7C9ED69}" presName="ConnectLine" presStyleLbl="sibTrans1D1" presStyleIdx="3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BB642F1-1FBD-4FA9-BBB8-4C9ECFD3A638}" type="pres">
      <dgm:prSet presAssocID="{B53D40FF-32AB-4ECC-B6C1-9BA8D7C9ED69}" presName="EmptyPlaceHolder" presStyleCnt="0"/>
      <dgm:spPr/>
    </dgm:pt>
    <dgm:pt modelId="{D53C388F-1270-4B26-8D71-1519D8CEED7D}" type="pres">
      <dgm:prSet presAssocID="{AC67CD06-4A9C-4D6C-A950-525AE0321731}" presName="spaceBetweenRectangles" presStyleCnt="0"/>
      <dgm:spPr/>
    </dgm:pt>
    <dgm:pt modelId="{C136E6EB-6BD7-4A24-BF7A-6E0C601BB4EB}" type="pres">
      <dgm:prSet presAssocID="{750C20AA-E619-46D1-8D97-AE0E0A6073FE}" presName="composite" presStyleCnt="0"/>
      <dgm:spPr/>
    </dgm:pt>
    <dgm:pt modelId="{0880F759-9E25-40CB-A40E-491C660EE112}" type="pres">
      <dgm:prSet presAssocID="{750C20AA-E619-46D1-8D97-AE0E0A6073FE}" presName="ConnectorPoint" presStyleLbl="lnNode1" presStyleIdx="4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9A79ADC-A599-4552-AA1A-96069D363060}" type="pres">
      <dgm:prSet presAssocID="{750C20AA-E619-46D1-8D97-AE0E0A6073FE}" presName="DropPinPlaceHolder" presStyleCnt="0"/>
      <dgm:spPr/>
    </dgm:pt>
    <dgm:pt modelId="{B0B378F8-257C-4372-84F1-8F731CD73ABC}" type="pres">
      <dgm:prSet presAssocID="{750C20AA-E619-46D1-8D97-AE0E0A6073FE}" presName="DropPin" presStyleLbl="alignNode1" presStyleIdx="4" presStyleCnt="5"/>
      <dgm:spPr/>
    </dgm:pt>
    <dgm:pt modelId="{3F03D4A4-6B00-474C-BEC0-5BFA25C30CD0}" type="pres">
      <dgm:prSet presAssocID="{750C20AA-E619-46D1-8D97-AE0E0A6073FE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5B3953D9-EDC3-4AC0-93D6-2D1091C4693D}" type="pres">
      <dgm:prSet presAssocID="{750C20AA-E619-46D1-8D97-AE0E0A6073FE}" presName="L2TextContainer" presStyleLbl="revTx" presStyleIdx="8" presStyleCnt="10">
        <dgm:presLayoutVars>
          <dgm:bulletEnabled val="1"/>
        </dgm:presLayoutVars>
      </dgm:prSet>
      <dgm:spPr/>
    </dgm:pt>
    <dgm:pt modelId="{84B3FD5B-1971-42D5-9870-BD9BA2AB5278}" type="pres">
      <dgm:prSet presAssocID="{750C20AA-E619-46D1-8D97-AE0E0A6073FE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409F7C3F-362E-4C9D-AE65-34A9B048DD98}" type="pres">
      <dgm:prSet presAssocID="{750C20AA-E619-46D1-8D97-AE0E0A6073FE}" presName="ConnectLine" presStyleLbl="sibTrans1D1" presStyleIdx="4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3435A61-17C5-4BA6-9B3C-3B294191AF71}" type="pres">
      <dgm:prSet presAssocID="{750C20AA-E619-46D1-8D97-AE0E0A6073FE}" presName="EmptyPlaceHolder" presStyleCnt="0"/>
      <dgm:spPr/>
    </dgm:pt>
  </dgm:ptLst>
  <dgm:cxnLst>
    <dgm:cxn modelId="{B2824900-62B7-4181-9B43-055D85C8B2A1}" type="presOf" srcId="{6C379E8F-7501-411C-85AD-824371AA0C7D}" destId="{9897C780-404F-451D-90EC-D694A1B45B2C}" srcOrd="0" destOrd="0" presId="urn:microsoft.com/office/officeart/2017/3/layout/DropPinTimeline"/>
    <dgm:cxn modelId="{1DD23502-F6EF-4E89-99A9-569E79205881}" srcId="{6C379E8F-7501-411C-85AD-824371AA0C7D}" destId="{4ECF69D0-E2A3-4A9E-BF68-0159A405A4D1}" srcOrd="2" destOrd="0" parTransId="{2AF2A6D3-BD38-465F-926C-D020B3D2643A}" sibTransId="{1CF4B64E-584B-489D-BA1C-EA98B502979D}"/>
    <dgm:cxn modelId="{65E51306-9858-4717-BF58-A642F5A6F864}" srcId="{ECD112E0-2461-46B9-9618-A6DA374F181F}" destId="{BEFF934B-C659-4EE0-88E0-6847C4B52892}" srcOrd="2" destOrd="0" parTransId="{388A6C7C-A5AB-48BE-ABC5-E580A612E29C}" sibTransId="{591E018E-C870-4B05-A09F-F0511A1DACB5}"/>
    <dgm:cxn modelId="{EDA52606-5114-4868-95CC-1FA96524B103}" srcId="{3E2BC948-C19F-4095-9D24-2BDAFCCA8EFC}" destId="{B53D40FF-32AB-4ECC-B6C1-9BA8D7C9ED69}" srcOrd="3" destOrd="0" parTransId="{A13131A9-22C2-4402-953C-0408BF8A7634}" sibTransId="{AC67CD06-4A9C-4D6C-A950-525AE0321731}"/>
    <dgm:cxn modelId="{42FB1416-F257-45DE-972D-A8C712D26DF3}" srcId="{750C20AA-E619-46D1-8D97-AE0E0A6073FE}" destId="{944665EA-9F4E-4064-A3C0-E13E6C6364C2}" srcOrd="0" destOrd="0" parTransId="{71173470-4877-49D5-AEF9-09F7B1C19B17}" sibTransId="{54182983-7755-472C-B8AD-DA41E42EA1BD}"/>
    <dgm:cxn modelId="{6734F31A-2E71-4AFB-90BF-BE54E488FD6A}" srcId="{BB80DDF5-D98A-44E4-9702-09C684F00975}" destId="{46332440-1B09-4877-B598-1101BD9DF41B}" srcOrd="3" destOrd="0" parTransId="{191A01EC-F666-4F4E-89CF-69035CBB402F}" sibTransId="{F08B24E2-BD59-470A-9EBB-4F8F859EAA3A}"/>
    <dgm:cxn modelId="{D330921E-E854-47F1-9733-DA22C698F193}" srcId="{6C379E8F-7501-411C-85AD-824371AA0C7D}" destId="{7780B901-DE80-4650-84CB-EA102299BAA5}" srcOrd="3" destOrd="0" parTransId="{50311B03-1551-4FA7-B687-02CF4D59D0DA}" sibTransId="{350A7B15-A404-40CA-B69A-F00BF3263A2C}"/>
    <dgm:cxn modelId="{333FF226-0D57-4A48-85B8-76FEB44269FF}" type="presOf" srcId="{3E2BC948-C19F-4095-9D24-2BDAFCCA8EFC}" destId="{866BF456-29CC-4F84-9BC0-970AF617F6D1}" srcOrd="0" destOrd="0" presId="urn:microsoft.com/office/officeart/2017/3/layout/DropPinTimeline"/>
    <dgm:cxn modelId="{206B4427-EF43-45D3-AB9E-E2E54140AE25}" type="presOf" srcId="{00618D92-15A8-4DAB-A8D6-3B080B348240}" destId="{5B3953D9-EDC3-4AC0-93D6-2D1091C4693D}" srcOrd="0" destOrd="1" presId="urn:microsoft.com/office/officeart/2017/3/layout/DropPinTimeline"/>
    <dgm:cxn modelId="{CBCF832A-E6A7-4DCA-9031-36007CDB54D0}" type="presOf" srcId="{590DB729-79A6-4C0A-A589-F628E800C667}" destId="{AF931798-E12B-49F2-90D9-2598C205BADB}" srcOrd="0" destOrd="2" presId="urn:microsoft.com/office/officeart/2017/3/layout/DropPinTimeline"/>
    <dgm:cxn modelId="{3768DE2D-FF91-47F3-BB2E-87F11A08BE44}" type="presOf" srcId="{4ECF69D0-E2A3-4A9E-BF68-0159A405A4D1}" destId="{E358DA43-5AD7-4CD3-8250-9151EE902C3C}" srcOrd="0" destOrd="2" presId="urn:microsoft.com/office/officeart/2017/3/layout/DropPinTimeline"/>
    <dgm:cxn modelId="{A4456A30-C65B-4E6C-8473-3EB8A6CF7FBF}" type="presOf" srcId="{4EC6D0B7-A585-47D4-9B3F-F64F05E21DE6}" destId="{A1C8104A-41B0-4D44-BFF2-A797E0AE2356}" srcOrd="0" destOrd="0" presId="urn:microsoft.com/office/officeart/2017/3/layout/DropPinTimeline"/>
    <dgm:cxn modelId="{4C168E31-8B63-40A6-9BD1-D713E10C2C82}" type="presOf" srcId="{750C20AA-E619-46D1-8D97-AE0E0A6073FE}" destId="{84B3FD5B-1971-42D5-9870-BD9BA2AB5278}" srcOrd="0" destOrd="0" presId="urn:microsoft.com/office/officeart/2017/3/layout/DropPinTimeline"/>
    <dgm:cxn modelId="{B12CD531-3E2D-4558-8D47-4F19C6665879}" srcId="{B53D40FF-32AB-4ECC-B6C1-9BA8D7C9ED69}" destId="{590DB729-79A6-4C0A-A589-F628E800C667}" srcOrd="2" destOrd="0" parTransId="{7F2B53AA-8B0B-4245-8A4D-3949D93C9580}" sibTransId="{97066EC1-4615-44D5-9D87-3A0CB3B210CD}"/>
    <dgm:cxn modelId="{BA066932-35D0-4658-AC7D-C717F2E3D7E2}" srcId="{750C20AA-E619-46D1-8D97-AE0E0A6073FE}" destId="{A0D2DF3A-CE21-4223-A054-A42A1F0D0D2A}" srcOrd="2" destOrd="0" parTransId="{F86869E8-B930-4D64-8194-282DED0B0C19}" sibTransId="{0593B8E9-E16D-4642-B3F1-B97943632BB1}"/>
    <dgm:cxn modelId="{84856933-7C40-4F20-B3F7-B207D478AAF1}" srcId="{ECD112E0-2461-46B9-9618-A6DA374F181F}" destId="{4EC6D0B7-A585-47D4-9B3F-F64F05E21DE6}" srcOrd="0" destOrd="0" parTransId="{66DBA64C-7C6C-46CD-ADD9-63978E858629}" sibTransId="{04788219-8F35-434A-ABE6-C5B9F3E8EBED}"/>
    <dgm:cxn modelId="{4C8D7233-171F-4D17-A738-EB77AD985A76}" type="presOf" srcId="{7B61AE88-3852-4BB8-A8C3-42A14813D054}" destId="{AF931798-E12B-49F2-90D9-2598C205BADB}" srcOrd="0" destOrd="0" presId="urn:microsoft.com/office/officeart/2017/3/layout/DropPinTimeline"/>
    <dgm:cxn modelId="{CCA5C43A-2630-40A2-BC24-3B5FF56E57AC}" type="presOf" srcId="{1E43357C-480D-4A3E-A29F-1E276109BD8F}" destId="{AF931798-E12B-49F2-90D9-2598C205BADB}" srcOrd="0" destOrd="1" presId="urn:microsoft.com/office/officeart/2017/3/layout/DropPinTimeline"/>
    <dgm:cxn modelId="{AA942A3E-6EF1-4045-993D-24DA63CFC8D7}" srcId="{B53D40FF-32AB-4ECC-B6C1-9BA8D7C9ED69}" destId="{77D18FFD-A075-4A5B-8CA7-3B53147FC4CC}" srcOrd="3" destOrd="0" parTransId="{DD5A547B-F084-46B1-AA8C-787BE85E320B}" sibTransId="{DC626EBF-A4EA-4B85-A413-F7C879F0B54A}"/>
    <dgm:cxn modelId="{F8A6A442-37B1-464D-92F0-231B9EA61EC2}" type="presOf" srcId="{B53D40FF-32AB-4ECC-B6C1-9BA8D7C9ED69}" destId="{4B23E061-9CDF-4C4F-A65E-DCA81D6CB743}" srcOrd="0" destOrd="0" presId="urn:microsoft.com/office/officeart/2017/3/layout/DropPinTimeline"/>
    <dgm:cxn modelId="{74EF1C63-BDB4-4199-8503-B8A29AEB666A}" type="presOf" srcId="{ECD112E0-2461-46B9-9618-A6DA374F181F}" destId="{BA5BC53C-E4CA-405C-8073-281792A1EE33}" srcOrd="0" destOrd="0" presId="urn:microsoft.com/office/officeart/2017/3/layout/DropPinTimeline"/>
    <dgm:cxn modelId="{84809944-6823-477B-8B96-1740CF11D1AB}" srcId="{750C20AA-E619-46D1-8D97-AE0E0A6073FE}" destId="{00618D92-15A8-4DAB-A8D6-3B080B348240}" srcOrd="1" destOrd="0" parTransId="{02344A85-E029-4763-92F8-B373A2C67917}" sibTransId="{EC5B1281-62FB-4E69-9F0D-A7071B6CD0E7}"/>
    <dgm:cxn modelId="{89D2AB71-D22C-4455-B8F9-CE611A45D78E}" type="presOf" srcId="{77D18FFD-A075-4A5B-8CA7-3B53147FC4CC}" destId="{AF931798-E12B-49F2-90D9-2598C205BADB}" srcOrd="0" destOrd="3" presId="urn:microsoft.com/office/officeart/2017/3/layout/DropPinTimeline"/>
    <dgm:cxn modelId="{06386572-DF6B-402B-B2FE-7126E9D43C78}" type="presOf" srcId="{BEFF934B-C659-4EE0-88E0-6847C4B52892}" destId="{A1C8104A-41B0-4D44-BFF2-A797E0AE2356}" srcOrd="0" destOrd="2" presId="urn:microsoft.com/office/officeart/2017/3/layout/DropPinTimeline"/>
    <dgm:cxn modelId="{E61D9B53-E403-4A36-84F9-AAAAA91D451C}" type="presOf" srcId="{58735F83-2A1E-45D5-9DCC-C16604D1B17E}" destId="{141D6724-5884-47BF-8803-74EB5689D58A}" srcOrd="0" destOrd="0" presId="urn:microsoft.com/office/officeart/2017/3/layout/DropPinTimeline"/>
    <dgm:cxn modelId="{C5343576-14F7-460A-8713-A84AA6D5779D}" type="presOf" srcId="{CB0BF676-1CD6-43BC-9123-B791A409B750}" destId="{E358DA43-5AD7-4CD3-8250-9151EE902C3C}" srcOrd="0" destOrd="0" presId="urn:microsoft.com/office/officeart/2017/3/layout/DropPinTimeline"/>
    <dgm:cxn modelId="{5A423257-3E3F-45BD-AB35-A7E641ED5BBE}" type="presOf" srcId="{46332440-1B09-4877-B598-1101BD9DF41B}" destId="{141D6724-5884-47BF-8803-74EB5689D58A}" srcOrd="0" destOrd="3" presId="urn:microsoft.com/office/officeart/2017/3/layout/DropPinTimeline"/>
    <dgm:cxn modelId="{66C2705A-1657-4E8F-828B-10D2565FF23D}" srcId="{B53D40FF-32AB-4ECC-B6C1-9BA8D7C9ED69}" destId="{1E43357C-480D-4A3E-A29F-1E276109BD8F}" srcOrd="1" destOrd="0" parTransId="{10279850-1073-4DE9-9099-F5FEF8090B3D}" sibTransId="{708FDDE9-2DEB-4AEC-80F5-C464E51356B3}"/>
    <dgm:cxn modelId="{A924407C-1A03-46DF-BE66-B2BF2D658D36}" type="presOf" srcId="{8FB3CBAD-3C9D-4F9D-8F60-96C7E29994D9}" destId="{A1C8104A-41B0-4D44-BFF2-A797E0AE2356}" srcOrd="0" destOrd="1" presId="urn:microsoft.com/office/officeart/2017/3/layout/DropPinTimeline"/>
    <dgm:cxn modelId="{1D20847C-D56B-4EFE-9CCB-F63D3790A589}" type="presOf" srcId="{7780B901-DE80-4650-84CB-EA102299BAA5}" destId="{E358DA43-5AD7-4CD3-8250-9151EE902C3C}" srcOrd="0" destOrd="3" presId="urn:microsoft.com/office/officeart/2017/3/layout/DropPinTimeline"/>
    <dgm:cxn modelId="{EDC25A89-8A68-4E97-8C80-81FC79E958B1}" srcId="{B53D40FF-32AB-4ECC-B6C1-9BA8D7C9ED69}" destId="{7B61AE88-3852-4BB8-A8C3-42A14813D054}" srcOrd="0" destOrd="0" parTransId="{7F729BD8-9A25-4315-9947-C6021C471181}" sibTransId="{DE3D7F2D-ABAF-40FB-A77E-F9410155FCAE}"/>
    <dgm:cxn modelId="{A332A48A-DD78-444D-B3D8-382EF7AE103E}" srcId="{6C379E8F-7501-411C-85AD-824371AA0C7D}" destId="{34C08876-0FC7-4F04-8BCB-B63C89E14706}" srcOrd="1" destOrd="0" parTransId="{53089DD0-8657-4FD2-A2FC-907FE08638F0}" sibTransId="{6B5B37A5-77D5-4F48-BA6D-DF3956413C7D}"/>
    <dgm:cxn modelId="{9BAF7991-E235-4D41-8A15-4041AB0513A3}" type="presOf" srcId="{944665EA-9F4E-4064-A3C0-E13E6C6364C2}" destId="{5B3953D9-EDC3-4AC0-93D6-2D1091C4693D}" srcOrd="0" destOrd="0" presId="urn:microsoft.com/office/officeart/2017/3/layout/DropPinTimeline"/>
    <dgm:cxn modelId="{28B4F991-0D34-47FD-9B7B-94BE9D34A1EA}" srcId="{BB80DDF5-D98A-44E4-9702-09C684F00975}" destId="{FD45C112-B212-4D05-A738-35B82B107F66}" srcOrd="1" destOrd="0" parTransId="{D9E9F07D-4250-47AF-B3EF-0432D887E6EA}" sibTransId="{C405F63C-0032-4110-B7ED-BBD1C1EC9D73}"/>
    <dgm:cxn modelId="{4A9F0892-B006-4A30-8995-D7BCBE2A999F}" type="presOf" srcId="{A0D2DF3A-CE21-4223-A054-A42A1F0D0D2A}" destId="{5B3953D9-EDC3-4AC0-93D6-2D1091C4693D}" srcOrd="0" destOrd="2" presId="urn:microsoft.com/office/officeart/2017/3/layout/DropPinTimeline"/>
    <dgm:cxn modelId="{857B4997-6C9B-408A-9BCB-C5F1C6102D5A}" srcId="{6C379E8F-7501-411C-85AD-824371AA0C7D}" destId="{CB0BF676-1CD6-43BC-9123-B791A409B750}" srcOrd="0" destOrd="0" parTransId="{C1A9FA90-814E-4429-973F-EB79B6306B1E}" sibTransId="{3D869F41-AEC3-46E3-8A0A-8C19DFF6178A}"/>
    <dgm:cxn modelId="{47107499-7BD5-44FC-8F70-1CBFD8FC578E}" type="presOf" srcId="{34C08876-0FC7-4F04-8BCB-B63C89E14706}" destId="{E358DA43-5AD7-4CD3-8250-9151EE902C3C}" srcOrd="0" destOrd="1" presId="urn:microsoft.com/office/officeart/2017/3/layout/DropPinTimeline"/>
    <dgm:cxn modelId="{F779DC99-F329-4CFE-833A-FE1FEED3457E}" type="presOf" srcId="{BB80DDF5-D98A-44E4-9702-09C684F00975}" destId="{5A0E7FEC-6A6E-498B-B5CF-F8E210125814}" srcOrd="0" destOrd="0" presId="urn:microsoft.com/office/officeart/2017/3/layout/DropPinTimeline"/>
    <dgm:cxn modelId="{29E1C2AB-978E-443D-ACB1-F875CF0BB0E6}" srcId="{3E2BC948-C19F-4095-9D24-2BDAFCCA8EFC}" destId="{750C20AA-E619-46D1-8D97-AE0E0A6073FE}" srcOrd="4" destOrd="0" parTransId="{E7353C1F-106C-4892-8570-4F86A4925168}" sibTransId="{C8CAF5D5-A389-4A3D-9977-74D1324DE247}"/>
    <dgm:cxn modelId="{552DFBC7-0BBA-4B23-964C-3B3741B67460}" type="presOf" srcId="{FD45C112-B212-4D05-A738-35B82B107F66}" destId="{141D6724-5884-47BF-8803-74EB5689D58A}" srcOrd="0" destOrd="1" presId="urn:microsoft.com/office/officeart/2017/3/layout/DropPinTimeline"/>
    <dgm:cxn modelId="{0C0544CA-32AB-4D1E-978A-B512EB5649E8}" srcId="{3E2BC948-C19F-4095-9D24-2BDAFCCA8EFC}" destId="{BB80DDF5-D98A-44E4-9702-09C684F00975}" srcOrd="1" destOrd="0" parTransId="{39AF3D9F-F24B-4CF6-B85B-9930E99742EF}" sibTransId="{B99AA754-1E62-4D80-A094-A025B20EE223}"/>
    <dgm:cxn modelId="{8A0CB9D3-12E1-427F-87A0-D29B12A6D2C0}" srcId="{3E2BC948-C19F-4095-9D24-2BDAFCCA8EFC}" destId="{6C379E8F-7501-411C-85AD-824371AA0C7D}" srcOrd="2" destOrd="0" parTransId="{A6ECAFB2-1F98-4D73-9EA0-18579E7CB021}" sibTransId="{89C84841-F0A8-4986-BE49-D0E6CACF2026}"/>
    <dgm:cxn modelId="{037969D8-86A9-49DA-ABF6-2DB27434CEFC}" type="presOf" srcId="{010AAF27-30E9-42B2-AA03-55942D15FE8F}" destId="{141D6724-5884-47BF-8803-74EB5689D58A}" srcOrd="0" destOrd="2" presId="urn:microsoft.com/office/officeart/2017/3/layout/DropPinTimeline"/>
    <dgm:cxn modelId="{2AD7C6E2-D97D-484E-B334-03E19979B47C}" srcId="{BB80DDF5-D98A-44E4-9702-09C684F00975}" destId="{010AAF27-30E9-42B2-AA03-55942D15FE8F}" srcOrd="2" destOrd="0" parTransId="{A650B384-9EE3-4ECA-A7FC-93700180EE53}" sibTransId="{5C4AEB8E-E42B-49D2-A9D1-2C869F903847}"/>
    <dgm:cxn modelId="{4EEAF0E8-B75A-405F-9AAE-9A6C49FC8221}" srcId="{3E2BC948-C19F-4095-9D24-2BDAFCCA8EFC}" destId="{ECD112E0-2461-46B9-9618-A6DA374F181F}" srcOrd="0" destOrd="0" parTransId="{FEFD25DA-F79F-4C0F-9837-3935A216AAF0}" sibTransId="{EBBDBDAC-8FA4-4C9F-BC19-02F0424EE573}"/>
    <dgm:cxn modelId="{136BF0F2-619F-40B9-8F5B-0F0C30B3FD54}" srcId="{ECD112E0-2461-46B9-9618-A6DA374F181F}" destId="{8FB3CBAD-3C9D-4F9D-8F60-96C7E29994D9}" srcOrd="1" destOrd="0" parTransId="{6C8A3EE2-408C-4C09-9EE5-1D53A5041677}" sibTransId="{9752DC66-F730-4787-95A2-D4439D8B53B0}"/>
    <dgm:cxn modelId="{9FF4E2F7-C507-438F-9E4D-921A11C920D1}" srcId="{BB80DDF5-D98A-44E4-9702-09C684F00975}" destId="{58735F83-2A1E-45D5-9DCC-C16604D1B17E}" srcOrd="0" destOrd="0" parTransId="{B7B2F8EC-B83F-402E-8BDE-149BC594C2A9}" sibTransId="{38C16E37-1F28-45B0-B8AC-48BE9ECDC6FD}"/>
    <dgm:cxn modelId="{199C98CA-4018-490F-80BB-83E0A2136698}" type="presParOf" srcId="{866BF456-29CC-4F84-9BC0-970AF617F6D1}" destId="{4A104D62-0B82-4674-AFCD-FF85FB80A213}" srcOrd="0" destOrd="0" presId="urn:microsoft.com/office/officeart/2017/3/layout/DropPinTimeline"/>
    <dgm:cxn modelId="{6827EE03-4462-439F-A8A5-337487E0C63D}" type="presParOf" srcId="{866BF456-29CC-4F84-9BC0-970AF617F6D1}" destId="{6DCE4056-ADB1-49A8-8996-5A63175B33CC}" srcOrd="1" destOrd="0" presId="urn:microsoft.com/office/officeart/2017/3/layout/DropPinTimeline"/>
    <dgm:cxn modelId="{A21B4445-8668-4E39-A654-3559E48125F1}" type="presParOf" srcId="{6DCE4056-ADB1-49A8-8996-5A63175B33CC}" destId="{05B0197C-EAAF-466B-B3B4-834CD9AAD759}" srcOrd="0" destOrd="0" presId="urn:microsoft.com/office/officeart/2017/3/layout/DropPinTimeline"/>
    <dgm:cxn modelId="{4FB1B8D2-0C85-4948-BBA5-76E8AD9706B9}" type="presParOf" srcId="{05B0197C-EAAF-466B-B3B4-834CD9AAD759}" destId="{1A84F0AA-ECF1-4832-91C6-BAED0B0355D0}" srcOrd="0" destOrd="0" presId="urn:microsoft.com/office/officeart/2017/3/layout/DropPinTimeline"/>
    <dgm:cxn modelId="{57851283-755D-4F19-9B76-7654D6122E59}" type="presParOf" srcId="{05B0197C-EAAF-466B-B3B4-834CD9AAD759}" destId="{556380BF-DBE1-4A5F-8717-DFD79CF38269}" srcOrd="1" destOrd="0" presId="urn:microsoft.com/office/officeart/2017/3/layout/DropPinTimeline"/>
    <dgm:cxn modelId="{C69B15A4-6375-4DDF-BE42-6C6529B06848}" type="presParOf" srcId="{556380BF-DBE1-4A5F-8717-DFD79CF38269}" destId="{FC5CB866-6A94-4560-9BE2-C1BB99FFA4DE}" srcOrd="0" destOrd="0" presId="urn:microsoft.com/office/officeart/2017/3/layout/DropPinTimeline"/>
    <dgm:cxn modelId="{44EE7BC3-F2FE-40AA-9073-BD5DFBA3DEB9}" type="presParOf" srcId="{556380BF-DBE1-4A5F-8717-DFD79CF38269}" destId="{730D5CE3-2068-445C-9215-91EBB87B83B1}" srcOrd="1" destOrd="0" presId="urn:microsoft.com/office/officeart/2017/3/layout/DropPinTimeline"/>
    <dgm:cxn modelId="{41C0B492-7379-4A7F-BCCD-C13006ECA4D7}" type="presParOf" srcId="{05B0197C-EAAF-466B-B3B4-834CD9AAD759}" destId="{A1C8104A-41B0-4D44-BFF2-A797E0AE2356}" srcOrd="2" destOrd="0" presId="urn:microsoft.com/office/officeart/2017/3/layout/DropPinTimeline"/>
    <dgm:cxn modelId="{659A2606-98BD-4F32-B18A-CD47FF824114}" type="presParOf" srcId="{05B0197C-EAAF-466B-B3B4-834CD9AAD759}" destId="{BA5BC53C-E4CA-405C-8073-281792A1EE33}" srcOrd="3" destOrd="0" presId="urn:microsoft.com/office/officeart/2017/3/layout/DropPinTimeline"/>
    <dgm:cxn modelId="{5169E8CE-8472-4B81-AD9A-F27AE51721CF}" type="presParOf" srcId="{05B0197C-EAAF-466B-B3B4-834CD9AAD759}" destId="{5C1FEEE8-4EA2-4A1D-BA0F-FAE71862A46D}" srcOrd="4" destOrd="0" presId="urn:microsoft.com/office/officeart/2017/3/layout/DropPinTimeline"/>
    <dgm:cxn modelId="{B455FABE-DE87-4B3B-BC4F-A6F302E1D01A}" type="presParOf" srcId="{05B0197C-EAAF-466B-B3B4-834CD9AAD759}" destId="{BB274A6A-7FD3-4400-BA0B-ACD5098FE885}" srcOrd="5" destOrd="0" presId="urn:microsoft.com/office/officeart/2017/3/layout/DropPinTimeline"/>
    <dgm:cxn modelId="{5E43A753-68EF-4052-B8B3-B70347BD6A55}" type="presParOf" srcId="{6DCE4056-ADB1-49A8-8996-5A63175B33CC}" destId="{1A59AE5B-26FE-4BF9-8270-5B509128B884}" srcOrd="1" destOrd="0" presId="urn:microsoft.com/office/officeart/2017/3/layout/DropPinTimeline"/>
    <dgm:cxn modelId="{1F3F878B-88A2-48AB-A5EB-FC0E6C5C7DE5}" type="presParOf" srcId="{6DCE4056-ADB1-49A8-8996-5A63175B33CC}" destId="{385F2413-98A5-4699-8A3D-2EE798FCF14D}" srcOrd="2" destOrd="0" presId="urn:microsoft.com/office/officeart/2017/3/layout/DropPinTimeline"/>
    <dgm:cxn modelId="{933E887E-A2C8-4EFD-BF82-A4628AEFD108}" type="presParOf" srcId="{385F2413-98A5-4699-8A3D-2EE798FCF14D}" destId="{41A8503B-507E-4DD8-8DC1-BAAB4F617FBF}" srcOrd="0" destOrd="0" presId="urn:microsoft.com/office/officeart/2017/3/layout/DropPinTimeline"/>
    <dgm:cxn modelId="{3D66D7BB-8F36-4C22-B301-D3494917CFC5}" type="presParOf" srcId="{385F2413-98A5-4699-8A3D-2EE798FCF14D}" destId="{78265D0A-5823-4318-B643-250B82860FA7}" srcOrd="1" destOrd="0" presId="urn:microsoft.com/office/officeart/2017/3/layout/DropPinTimeline"/>
    <dgm:cxn modelId="{606A2741-F984-4740-B1F5-134B4F27CBC4}" type="presParOf" srcId="{78265D0A-5823-4318-B643-250B82860FA7}" destId="{6AA59496-6750-4C9F-A877-D92F312BB463}" srcOrd="0" destOrd="0" presId="urn:microsoft.com/office/officeart/2017/3/layout/DropPinTimeline"/>
    <dgm:cxn modelId="{08232829-476F-4F95-8E24-812834B86F87}" type="presParOf" srcId="{78265D0A-5823-4318-B643-250B82860FA7}" destId="{E026D153-6BC4-4242-B308-86334872BF3F}" srcOrd="1" destOrd="0" presId="urn:microsoft.com/office/officeart/2017/3/layout/DropPinTimeline"/>
    <dgm:cxn modelId="{F555A3EF-A619-4F7A-8FE7-FFA98122778C}" type="presParOf" srcId="{385F2413-98A5-4699-8A3D-2EE798FCF14D}" destId="{141D6724-5884-47BF-8803-74EB5689D58A}" srcOrd="2" destOrd="0" presId="urn:microsoft.com/office/officeart/2017/3/layout/DropPinTimeline"/>
    <dgm:cxn modelId="{BEFAAC61-0E5C-4FF0-9438-AE793B6EA8AC}" type="presParOf" srcId="{385F2413-98A5-4699-8A3D-2EE798FCF14D}" destId="{5A0E7FEC-6A6E-498B-B5CF-F8E210125814}" srcOrd="3" destOrd="0" presId="urn:microsoft.com/office/officeart/2017/3/layout/DropPinTimeline"/>
    <dgm:cxn modelId="{6774854C-00A4-41D7-A9CC-86363F65B166}" type="presParOf" srcId="{385F2413-98A5-4699-8A3D-2EE798FCF14D}" destId="{CB72CA1A-64E3-457B-9F66-CDF46F7FE10C}" srcOrd="4" destOrd="0" presId="urn:microsoft.com/office/officeart/2017/3/layout/DropPinTimeline"/>
    <dgm:cxn modelId="{1971A6D9-1E92-4E53-9A4A-70212020C86B}" type="presParOf" srcId="{385F2413-98A5-4699-8A3D-2EE798FCF14D}" destId="{08EE86F2-3E3A-4633-A05C-A7BE93BED403}" srcOrd="5" destOrd="0" presId="urn:microsoft.com/office/officeart/2017/3/layout/DropPinTimeline"/>
    <dgm:cxn modelId="{3B355FAC-ED77-44BE-8B3A-B715CCE164B9}" type="presParOf" srcId="{6DCE4056-ADB1-49A8-8996-5A63175B33CC}" destId="{62B47785-AA6B-4D61-B73C-7D0CB09E258E}" srcOrd="3" destOrd="0" presId="urn:microsoft.com/office/officeart/2017/3/layout/DropPinTimeline"/>
    <dgm:cxn modelId="{95D672F7-6C00-41A3-A9F4-6276D3F5D9AD}" type="presParOf" srcId="{6DCE4056-ADB1-49A8-8996-5A63175B33CC}" destId="{880110F4-F942-467D-8EBC-C06621677731}" srcOrd="4" destOrd="0" presId="urn:microsoft.com/office/officeart/2017/3/layout/DropPinTimeline"/>
    <dgm:cxn modelId="{B67445DB-AA1F-49DA-B341-792E9D9D3458}" type="presParOf" srcId="{880110F4-F942-467D-8EBC-C06621677731}" destId="{81C4228C-9109-4D36-9741-751ED2494F30}" srcOrd="0" destOrd="0" presId="urn:microsoft.com/office/officeart/2017/3/layout/DropPinTimeline"/>
    <dgm:cxn modelId="{6F850902-A895-438E-9BC1-69A53E8762E1}" type="presParOf" srcId="{880110F4-F942-467D-8EBC-C06621677731}" destId="{92A4284D-FB3C-48CC-BBEB-A8D721781BD6}" srcOrd="1" destOrd="0" presId="urn:microsoft.com/office/officeart/2017/3/layout/DropPinTimeline"/>
    <dgm:cxn modelId="{3D687200-F5ED-4DC4-8B0A-98565683AA6C}" type="presParOf" srcId="{92A4284D-FB3C-48CC-BBEB-A8D721781BD6}" destId="{3C392DDD-426C-4B4B-A8D1-F295C0BC6D74}" srcOrd="0" destOrd="0" presId="urn:microsoft.com/office/officeart/2017/3/layout/DropPinTimeline"/>
    <dgm:cxn modelId="{5252ADFD-DC18-42B2-B697-82AB94A5B9DF}" type="presParOf" srcId="{92A4284D-FB3C-48CC-BBEB-A8D721781BD6}" destId="{BDC38019-9266-4044-8A4B-BCBEDC525A24}" srcOrd="1" destOrd="0" presId="urn:microsoft.com/office/officeart/2017/3/layout/DropPinTimeline"/>
    <dgm:cxn modelId="{F5E7C8AE-B9C7-44E2-8912-FBC485E10C82}" type="presParOf" srcId="{880110F4-F942-467D-8EBC-C06621677731}" destId="{E358DA43-5AD7-4CD3-8250-9151EE902C3C}" srcOrd="2" destOrd="0" presId="urn:microsoft.com/office/officeart/2017/3/layout/DropPinTimeline"/>
    <dgm:cxn modelId="{AF9FE0A5-F9BF-4EDC-95D5-BDC3114063DB}" type="presParOf" srcId="{880110F4-F942-467D-8EBC-C06621677731}" destId="{9897C780-404F-451D-90EC-D694A1B45B2C}" srcOrd="3" destOrd="0" presId="urn:microsoft.com/office/officeart/2017/3/layout/DropPinTimeline"/>
    <dgm:cxn modelId="{C152BBF4-C368-4CD7-8615-466CFC0CA271}" type="presParOf" srcId="{880110F4-F942-467D-8EBC-C06621677731}" destId="{10C8833C-1274-4E08-B01B-FE6B12C6D7AF}" srcOrd="4" destOrd="0" presId="urn:microsoft.com/office/officeart/2017/3/layout/DropPinTimeline"/>
    <dgm:cxn modelId="{FAB66EE9-4462-4212-9C18-985C8F8E3669}" type="presParOf" srcId="{880110F4-F942-467D-8EBC-C06621677731}" destId="{C6777298-5BE3-425C-8517-787D998F75FF}" srcOrd="5" destOrd="0" presId="urn:microsoft.com/office/officeart/2017/3/layout/DropPinTimeline"/>
    <dgm:cxn modelId="{AAB28C44-CBCB-4864-9B2F-A7B3B134CF99}" type="presParOf" srcId="{6DCE4056-ADB1-49A8-8996-5A63175B33CC}" destId="{AD8211FC-6889-4CCE-9552-4A61E4F80D6B}" srcOrd="5" destOrd="0" presId="urn:microsoft.com/office/officeart/2017/3/layout/DropPinTimeline"/>
    <dgm:cxn modelId="{20CB36A7-53D3-4676-BA3A-7C3829417FE9}" type="presParOf" srcId="{6DCE4056-ADB1-49A8-8996-5A63175B33CC}" destId="{3A49250B-84C1-49C2-99AD-E4275B634A4D}" srcOrd="6" destOrd="0" presId="urn:microsoft.com/office/officeart/2017/3/layout/DropPinTimeline"/>
    <dgm:cxn modelId="{628299F9-6404-401F-9819-4AFB9BEC45B2}" type="presParOf" srcId="{3A49250B-84C1-49C2-99AD-E4275B634A4D}" destId="{057466EC-2A3D-4F85-B0C3-A5F75CBE3D5C}" srcOrd="0" destOrd="0" presId="urn:microsoft.com/office/officeart/2017/3/layout/DropPinTimeline"/>
    <dgm:cxn modelId="{C3D61364-7076-4C43-B890-D3F405DE9282}" type="presParOf" srcId="{3A49250B-84C1-49C2-99AD-E4275B634A4D}" destId="{DDF244A5-4D1F-41AC-9182-96BC155C4CF7}" srcOrd="1" destOrd="0" presId="urn:microsoft.com/office/officeart/2017/3/layout/DropPinTimeline"/>
    <dgm:cxn modelId="{6353D796-99C1-4C90-86B9-FE77A0E02F2E}" type="presParOf" srcId="{DDF244A5-4D1F-41AC-9182-96BC155C4CF7}" destId="{009BB112-FEDA-4B51-9BC2-D9B55CE36528}" srcOrd="0" destOrd="0" presId="urn:microsoft.com/office/officeart/2017/3/layout/DropPinTimeline"/>
    <dgm:cxn modelId="{0559EA73-9968-4394-9A14-E866698DE929}" type="presParOf" srcId="{DDF244A5-4D1F-41AC-9182-96BC155C4CF7}" destId="{67E09FEF-550E-457E-85BA-CA9449794D84}" srcOrd="1" destOrd="0" presId="urn:microsoft.com/office/officeart/2017/3/layout/DropPinTimeline"/>
    <dgm:cxn modelId="{D458E893-96C9-4E8A-9118-D36608EBE45E}" type="presParOf" srcId="{3A49250B-84C1-49C2-99AD-E4275B634A4D}" destId="{AF931798-E12B-49F2-90D9-2598C205BADB}" srcOrd="2" destOrd="0" presId="urn:microsoft.com/office/officeart/2017/3/layout/DropPinTimeline"/>
    <dgm:cxn modelId="{113EFE64-C27A-4613-800F-97FA27FA477B}" type="presParOf" srcId="{3A49250B-84C1-49C2-99AD-E4275B634A4D}" destId="{4B23E061-9CDF-4C4F-A65E-DCA81D6CB743}" srcOrd="3" destOrd="0" presId="urn:microsoft.com/office/officeart/2017/3/layout/DropPinTimeline"/>
    <dgm:cxn modelId="{E72E6466-E934-4119-8532-A4E2F450A21A}" type="presParOf" srcId="{3A49250B-84C1-49C2-99AD-E4275B634A4D}" destId="{69A8B29F-4499-486C-8AD9-A9C0791E74C6}" srcOrd="4" destOrd="0" presId="urn:microsoft.com/office/officeart/2017/3/layout/DropPinTimeline"/>
    <dgm:cxn modelId="{3608E9EB-9B43-44A0-BFBA-C2F0DA1CB8F9}" type="presParOf" srcId="{3A49250B-84C1-49C2-99AD-E4275B634A4D}" destId="{8BB642F1-1FBD-4FA9-BBB8-4C9ECFD3A638}" srcOrd="5" destOrd="0" presId="urn:microsoft.com/office/officeart/2017/3/layout/DropPinTimeline"/>
    <dgm:cxn modelId="{8F38521A-2D33-4BA7-B559-8ACA9C63C034}" type="presParOf" srcId="{6DCE4056-ADB1-49A8-8996-5A63175B33CC}" destId="{D53C388F-1270-4B26-8D71-1519D8CEED7D}" srcOrd="7" destOrd="0" presId="urn:microsoft.com/office/officeart/2017/3/layout/DropPinTimeline"/>
    <dgm:cxn modelId="{C49214CE-8AF5-41D7-AFD4-791ADA8FE96F}" type="presParOf" srcId="{6DCE4056-ADB1-49A8-8996-5A63175B33CC}" destId="{C136E6EB-6BD7-4A24-BF7A-6E0C601BB4EB}" srcOrd="8" destOrd="0" presId="urn:microsoft.com/office/officeart/2017/3/layout/DropPinTimeline"/>
    <dgm:cxn modelId="{F72E0182-9C25-4C07-8643-B8E1EFE8EEF3}" type="presParOf" srcId="{C136E6EB-6BD7-4A24-BF7A-6E0C601BB4EB}" destId="{0880F759-9E25-40CB-A40E-491C660EE112}" srcOrd="0" destOrd="0" presId="urn:microsoft.com/office/officeart/2017/3/layout/DropPinTimeline"/>
    <dgm:cxn modelId="{EAE1A51B-C448-4E85-87AA-3CCD9A703540}" type="presParOf" srcId="{C136E6EB-6BD7-4A24-BF7A-6E0C601BB4EB}" destId="{59A79ADC-A599-4552-AA1A-96069D363060}" srcOrd="1" destOrd="0" presId="urn:microsoft.com/office/officeart/2017/3/layout/DropPinTimeline"/>
    <dgm:cxn modelId="{72108740-9680-4C51-A4F7-B236548970AF}" type="presParOf" srcId="{59A79ADC-A599-4552-AA1A-96069D363060}" destId="{B0B378F8-257C-4372-84F1-8F731CD73ABC}" srcOrd="0" destOrd="0" presId="urn:microsoft.com/office/officeart/2017/3/layout/DropPinTimeline"/>
    <dgm:cxn modelId="{3C498D9F-C8D3-42A0-A4DB-B251D0A0B933}" type="presParOf" srcId="{59A79ADC-A599-4552-AA1A-96069D363060}" destId="{3F03D4A4-6B00-474C-BEC0-5BFA25C30CD0}" srcOrd="1" destOrd="0" presId="urn:microsoft.com/office/officeart/2017/3/layout/DropPinTimeline"/>
    <dgm:cxn modelId="{7EABDDBB-4F38-4334-9940-D90B460283F5}" type="presParOf" srcId="{C136E6EB-6BD7-4A24-BF7A-6E0C601BB4EB}" destId="{5B3953D9-EDC3-4AC0-93D6-2D1091C4693D}" srcOrd="2" destOrd="0" presId="urn:microsoft.com/office/officeart/2017/3/layout/DropPinTimeline"/>
    <dgm:cxn modelId="{AC567A43-F18C-4C9C-9C83-51F2BC06C7AB}" type="presParOf" srcId="{C136E6EB-6BD7-4A24-BF7A-6E0C601BB4EB}" destId="{84B3FD5B-1971-42D5-9870-BD9BA2AB5278}" srcOrd="3" destOrd="0" presId="urn:microsoft.com/office/officeart/2017/3/layout/DropPinTimeline"/>
    <dgm:cxn modelId="{18ADBB1F-EA78-4AE8-B3E0-76640E17FCAD}" type="presParOf" srcId="{C136E6EB-6BD7-4A24-BF7A-6E0C601BB4EB}" destId="{409F7C3F-362E-4C9D-AE65-34A9B048DD98}" srcOrd="4" destOrd="0" presId="urn:microsoft.com/office/officeart/2017/3/layout/DropPinTimeline"/>
    <dgm:cxn modelId="{7BF76A32-FEBD-42BE-B502-13256258E58C}" type="presParOf" srcId="{C136E6EB-6BD7-4A24-BF7A-6E0C601BB4EB}" destId="{83435A61-17C5-4BA6-9B3C-3B294191AF7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E0E0AF-52BD-4A25-B4B1-C011F05BF64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19B39C-2572-4806-B082-F6D7712C1CF9}">
      <dgm:prSet phldrT="[Text]"/>
      <dgm:spPr/>
      <dgm:t>
        <a:bodyPr/>
        <a:lstStyle/>
        <a:p>
          <a:pPr rtl="0"/>
          <a:r>
            <a:rPr lang="en-US" sz="2800">
              <a:latin typeface="Aptos"/>
            </a:rPr>
            <a:t>Growth into international markets.</a:t>
          </a:r>
          <a:endParaRPr lang="en-US"/>
        </a:p>
      </dgm:t>
    </dgm:pt>
    <dgm:pt modelId="{C1AE8338-0B2E-40B8-AD5C-2C810F43511F}" type="parTrans" cxnId="{65A97D2D-DB44-4916-AA65-84A3AC68849D}">
      <dgm:prSet/>
      <dgm:spPr/>
      <dgm:t>
        <a:bodyPr/>
        <a:lstStyle/>
        <a:p>
          <a:endParaRPr lang="en-US"/>
        </a:p>
      </dgm:t>
    </dgm:pt>
    <dgm:pt modelId="{D239E486-4140-4DAE-8FCF-EBF30AE9AAA5}" type="sibTrans" cxnId="{65A97D2D-DB44-4916-AA65-84A3AC68849D}">
      <dgm:prSet/>
      <dgm:spPr/>
      <dgm:t>
        <a:bodyPr/>
        <a:lstStyle/>
        <a:p>
          <a:endParaRPr lang="en-US"/>
        </a:p>
      </dgm:t>
    </dgm:pt>
    <dgm:pt modelId="{0BF3DB3C-4704-41A0-9869-2532DAAF4127}">
      <dgm:prSet phldrT="[Text]" phldr="0"/>
      <dgm:spPr/>
      <dgm:t>
        <a:bodyPr/>
        <a:lstStyle/>
        <a:p>
          <a:pPr rtl="0"/>
          <a:r>
            <a:rPr lang="en-US" sz="2800">
              <a:latin typeface="Aptos"/>
            </a:rPr>
            <a:t>Reaching the undesirable plastics in countries with lacking infrastructure to properly recycle.</a:t>
          </a:r>
          <a:endParaRPr lang="en-US"/>
        </a:p>
      </dgm:t>
    </dgm:pt>
    <dgm:pt modelId="{ADD335B4-48F3-46A7-B4CC-93427C888096}" type="parTrans" cxnId="{6817CE52-7855-41B7-BD8E-FF2F555AE326}">
      <dgm:prSet/>
      <dgm:spPr/>
      <dgm:t>
        <a:bodyPr/>
        <a:lstStyle/>
        <a:p>
          <a:endParaRPr lang="en-US"/>
        </a:p>
      </dgm:t>
    </dgm:pt>
    <dgm:pt modelId="{75E6B23E-1441-4F91-B083-99C791FCA609}" type="sibTrans" cxnId="{6817CE52-7855-41B7-BD8E-FF2F555AE326}">
      <dgm:prSet/>
      <dgm:spPr/>
      <dgm:t>
        <a:bodyPr/>
        <a:lstStyle/>
        <a:p>
          <a:endParaRPr lang="en-US"/>
        </a:p>
      </dgm:t>
    </dgm:pt>
    <dgm:pt modelId="{DC629A49-E1E0-4739-B8DB-ACE00FFEBF90}">
      <dgm:prSet phldrT="[Text]"/>
      <dgm:spPr/>
      <dgm:t>
        <a:bodyPr/>
        <a:lstStyle/>
        <a:p>
          <a:pPr rtl="0"/>
          <a:r>
            <a:rPr lang="en-US" sz="2800">
              <a:latin typeface="Aptos"/>
            </a:rPr>
            <a:t>Expanding our scopes into other railway systems beyond the US borders, pushing our goal of impacting the environment further.</a:t>
          </a:r>
          <a:endParaRPr lang="en-US"/>
        </a:p>
      </dgm:t>
    </dgm:pt>
    <dgm:pt modelId="{86248ACC-6EF4-41E1-B6C8-5822DB0D95F3}" type="parTrans" cxnId="{34CB1255-42F0-4F7A-A370-7EF8ABEB4E98}">
      <dgm:prSet/>
      <dgm:spPr/>
      <dgm:t>
        <a:bodyPr/>
        <a:lstStyle/>
        <a:p>
          <a:endParaRPr lang="en-US"/>
        </a:p>
      </dgm:t>
    </dgm:pt>
    <dgm:pt modelId="{A3AB1C4F-F1E4-407C-AB97-A60927FD606F}" type="sibTrans" cxnId="{34CB1255-42F0-4F7A-A370-7EF8ABEB4E98}">
      <dgm:prSet/>
      <dgm:spPr/>
      <dgm:t>
        <a:bodyPr/>
        <a:lstStyle/>
        <a:p>
          <a:endParaRPr lang="en-US"/>
        </a:p>
      </dgm:t>
    </dgm:pt>
    <dgm:pt modelId="{91676B4E-EDB5-430F-9CD7-B28AD8E9ED5D}" type="pres">
      <dgm:prSet presAssocID="{09E0E0AF-52BD-4A25-B4B1-C011F05BF64F}" presName="CompostProcess" presStyleCnt="0">
        <dgm:presLayoutVars>
          <dgm:dir/>
          <dgm:resizeHandles val="exact"/>
        </dgm:presLayoutVars>
      </dgm:prSet>
      <dgm:spPr/>
    </dgm:pt>
    <dgm:pt modelId="{9379AFE0-94FE-400A-8EAE-8DC14B909CE8}" type="pres">
      <dgm:prSet presAssocID="{09E0E0AF-52BD-4A25-B4B1-C011F05BF64F}" presName="arrow" presStyleLbl="bgShp" presStyleIdx="0" presStyleCnt="1"/>
      <dgm:spPr/>
    </dgm:pt>
    <dgm:pt modelId="{B047571D-4473-4896-B4FA-57E735291000}" type="pres">
      <dgm:prSet presAssocID="{09E0E0AF-52BD-4A25-B4B1-C011F05BF64F}" presName="linearProcess" presStyleCnt="0"/>
      <dgm:spPr/>
    </dgm:pt>
    <dgm:pt modelId="{8C9A668A-06C3-4FD0-9F33-19680B8ADE53}" type="pres">
      <dgm:prSet presAssocID="{A919B39C-2572-4806-B082-F6D7712C1CF9}" presName="textNode" presStyleLbl="node1" presStyleIdx="0" presStyleCnt="3">
        <dgm:presLayoutVars>
          <dgm:bulletEnabled val="1"/>
        </dgm:presLayoutVars>
      </dgm:prSet>
      <dgm:spPr/>
    </dgm:pt>
    <dgm:pt modelId="{E30DE477-4C7E-43BB-93F5-B3DDB440113C}" type="pres">
      <dgm:prSet presAssocID="{D239E486-4140-4DAE-8FCF-EBF30AE9AAA5}" presName="sibTrans" presStyleCnt="0"/>
      <dgm:spPr/>
    </dgm:pt>
    <dgm:pt modelId="{8DA640E7-32A6-4A43-A91D-CBB24BF59E60}" type="pres">
      <dgm:prSet presAssocID="{0BF3DB3C-4704-41A0-9869-2532DAAF4127}" presName="textNode" presStyleLbl="node1" presStyleIdx="1" presStyleCnt="3">
        <dgm:presLayoutVars>
          <dgm:bulletEnabled val="1"/>
        </dgm:presLayoutVars>
      </dgm:prSet>
      <dgm:spPr/>
    </dgm:pt>
    <dgm:pt modelId="{02626F7B-7D48-441D-A974-64747FA1F1BA}" type="pres">
      <dgm:prSet presAssocID="{75E6B23E-1441-4F91-B083-99C791FCA609}" presName="sibTrans" presStyleCnt="0"/>
      <dgm:spPr/>
    </dgm:pt>
    <dgm:pt modelId="{479E2016-EE27-4E26-A784-3E02249F2BA4}" type="pres">
      <dgm:prSet presAssocID="{DC629A49-E1E0-4739-B8DB-ACE00FFEBF9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C2ACF01A-46C2-493D-A043-F6512B741663}" type="presOf" srcId="{09E0E0AF-52BD-4A25-B4B1-C011F05BF64F}" destId="{91676B4E-EDB5-430F-9CD7-B28AD8E9ED5D}" srcOrd="0" destOrd="0" presId="urn:microsoft.com/office/officeart/2005/8/layout/hProcess9"/>
    <dgm:cxn modelId="{B0348426-E137-4340-905B-9C30077D4197}" type="presOf" srcId="{DC629A49-E1E0-4739-B8DB-ACE00FFEBF90}" destId="{479E2016-EE27-4E26-A784-3E02249F2BA4}" srcOrd="0" destOrd="0" presId="urn:microsoft.com/office/officeart/2005/8/layout/hProcess9"/>
    <dgm:cxn modelId="{65A97D2D-DB44-4916-AA65-84A3AC68849D}" srcId="{09E0E0AF-52BD-4A25-B4B1-C011F05BF64F}" destId="{A919B39C-2572-4806-B082-F6D7712C1CF9}" srcOrd="0" destOrd="0" parTransId="{C1AE8338-0B2E-40B8-AD5C-2C810F43511F}" sibTransId="{D239E486-4140-4DAE-8FCF-EBF30AE9AAA5}"/>
    <dgm:cxn modelId="{6817CE52-7855-41B7-BD8E-FF2F555AE326}" srcId="{09E0E0AF-52BD-4A25-B4B1-C011F05BF64F}" destId="{0BF3DB3C-4704-41A0-9869-2532DAAF4127}" srcOrd="1" destOrd="0" parTransId="{ADD335B4-48F3-46A7-B4CC-93427C888096}" sibTransId="{75E6B23E-1441-4F91-B083-99C791FCA609}"/>
    <dgm:cxn modelId="{34CB1255-42F0-4F7A-A370-7EF8ABEB4E98}" srcId="{09E0E0AF-52BD-4A25-B4B1-C011F05BF64F}" destId="{DC629A49-E1E0-4739-B8DB-ACE00FFEBF90}" srcOrd="2" destOrd="0" parTransId="{86248ACC-6EF4-41E1-B6C8-5822DB0D95F3}" sibTransId="{A3AB1C4F-F1E4-407C-AB97-A60927FD606F}"/>
    <dgm:cxn modelId="{92F9B67C-BF0F-4897-B605-2CD2AC45A2B2}" type="presOf" srcId="{0BF3DB3C-4704-41A0-9869-2532DAAF4127}" destId="{8DA640E7-32A6-4A43-A91D-CBB24BF59E60}" srcOrd="0" destOrd="0" presId="urn:microsoft.com/office/officeart/2005/8/layout/hProcess9"/>
    <dgm:cxn modelId="{0EF8ADF0-0123-4126-9889-E90623F62C72}" type="presOf" srcId="{A919B39C-2572-4806-B082-F6D7712C1CF9}" destId="{8C9A668A-06C3-4FD0-9F33-19680B8ADE53}" srcOrd="0" destOrd="0" presId="urn:microsoft.com/office/officeart/2005/8/layout/hProcess9"/>
    <dgm:cxn modelId="{A6127A97-3CD3-4A43-B383-A89E47E3DBB6}" type="presParOf" srcId="{91676B4E-EDB5-430F-9CD7-B28AD8E9ED5D}" destId="{9379AFE0-94FE-400A-8EAE-8DC14B909CE8}" srcOrd="0" destOrd="0" presId="urn:microsoft.com/office/officeart/2005/8/layout/hProcess9"/>
    <dgm:cxn modelId="{92D1BB67-C45E-462B-812F-32339EA8C8CF}" type="presParOf" srcId="{91676B4E-EDB5-430F-9CD7-B28AD8E9ED5D}" destId="{B047571D-4473-4896-B4FA-57E735291000}" srcOrd="1" destOrd="0" presId="urn:microsoft.com/office/officeart/2005/8/layout/hProcess9"/>
    <dgm:cxn modelId="{AB9F2626-1621-40D2-96F5-D9F652DEC16B}" type="presParOf" srcId="{B047571D-4473-4896-B4FA-57E735291000}" destId="{8C9A668A-06C3-4FD0-9F33-19680B8ADE53}" srcOrd="0" destOrd="0" presId="urn:microsoft.com/office/officeart/2005/8/layout/hProcess9"/>
    <dgm:cxn modelId="{423A6BBD-E0B2-40F2-9838-0A25F4720285}" type="presParOf" srcId="{B047571D-4473-4896-B4FA-57E735291000}" destId="{E30DE477-4C7E-43BB-93F5-B3DDB440113C}" srcOrd="1" destOrd="0" presId="urn:microsoft.com/office/officeart/2005/8/layout/hProcess9"/>
    <dgm:cxn modelId="{91F75A6E-17CD-494C-8351-D732A84F0ABA}" type="presParOf" srcId="{B047571D-4473-4896-B4FA-57E735291000}" destId="{8DA640E7-32A6-4A43-A91D-CBB24BF59E60}" srcOrd="2" destOrd="0" presId="urn:microsoft.com/office/officeart/2005/8/layout/hProcess9"/>
    <dgm:cxn modelId="{9FD38362-6638-4B35-B336-24A5FC100045}" type="presParOf" srcId="{B047571D-4473-4896-B4FA-57E735291000}" destId="{02626F7B-7D48-441D-A974-64747FA1F1BA}" srcOrd="3" destOrd="0" presId="urn:microsoft.com/office/officeart/2005/8/layout/hProcess9"/>
    <dgm:cxn modelId="{B9C27BBC-86DC-402D-BFEE-4CAE5EC90DC5}" type="presParOf" srcId="{B047571D-4473-4896-B4FA-57E735291000}" destId="{479E2016-EE27-4E26-A784-3E02249F2BA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04D62-0B82-4674-AFCD-FF85FB80A213}">
      <dsp:nvSpPr>
        <dsp:cNvPr id="0" name=""/>
        <dsp:cNvSpPr/>
      </dsp:nvSpPr>
      <dsp:spPr>
        <a:xfrm>
          <a:off x="0" y="2880942"/>
          <a:ext cx="11937075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CB866-6A94-4560-9BE2-C1BB99FFA4DE}">
      <dsp:nvSpPr>
        <dsp:cNvPr id="0" name=""/>
        <dsp:cNvSpPr/>
      </dsp:nvSpPr>
      <dsp:spPr>
        <a:xfrm rot="8100000">
          <a:off x="94894" y="663944"/>
          <a:ext cx="423723" cy="423723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D5CE3-2068-445C-9215-91EBB87B83B1}">
      <dsp:nvSpPr>
        <dsp:cNvPr id="0" name=""/>
        <dsp:cNvSpPr/>
      </dsp:nvSpPr>
      <dsp:spPr>
        <a:xfrm>
          <a:off x="141966" y="711016"/>
          <a:ext cx="329579" cy="3295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8104A-41B0-4D44-BFF2-A797E0AE2356}">
      <dsp:nvSpPr>
        <dsp:cNvPr id="0" name=""/>
        <dsp:cNvSpPr/>
      </dsp:nvSpPr>
      <dsp:spPr>
        <a:xfrm>
          <a:off x="606374" y="1175424"/>
          <a:ext cx="3308606" cy="1705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/>
              <a:ea typeface="+mn-ea"/>
              <a:cs typeface="+mn-cs"/>
            </a:rPr>
            <a:t>Foundation &amp; validation</a:t>
          </a:r>
          <a:endParaRPr lang="en-US" sz="1400" b="0" kern="1200">
            <a:latin typeface="Aptos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/>
              <a:ea typeface="+mn-ea"/>
              <a:cs typeface="+mn-cs"/>
            </a:rPr>
            <a:t>Research and development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/>
              <a:ea typeface="+mn-ea"/>
              <a:cs typeface="+mn-cs"/>
            </a:rPr>
            <a:t>Finalize composite formulation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196B24"/>
              </a:solidFill>
              <a:latin typeface="Aptos"/>
              <a:ea typeface="+mn-ea"/>
              <a:cs typeface="+mn-cs"/>
            </a:rPr>
            <a:t>Ties sold: 0</a:t>
          </a:r>
        </a:p>
      </dsp:txBody>
      <dsp:txXfrm>
        <a:off x="606374" y="1175424"/>
        <a:ext cx="3308606" cy="1705517"/>
      </dsp:txXfrm>
    </dsp:sp>
    <dsp:sp modelId="{BA5BC53C-E4CA-405C-8073-281792A1EE33}">
      <dsp:nvSpPr>
        <dsp:cNvPr id="0" name=""/>
        <dsp:cNvSpPr/>
      </dsp:nvSpPr>
      <dsp:spPr>
        <a:xfrm>
          <a:off x="606374" y="576188"/>
          <a:ext cx="3308606" cy="599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Biome"/>
              <a:ea typeface="+mn-ea"/>
              <a:cs typeface="+mn-cs"/>
            </a:rPr>
            <a:t>Year 1</a:t>
          </a:r>
        </a:p>
      </dsp:txBody>
      <dsp:txXfrm>
        <a:off x="606374" y="576188"/>
        <a:ext cx="3308606" cy="599235"/>
      </dsp:txXfrm>
    </dsp:sp>
    <dsp:sp modelId="{5C1FEEE8-4EA2-4A1D-BA0F-FAE71862A46D}">
      <dsp:nvSpPr>
        <dsp:cNvPr id="0" name=""/>
        <dsp:cNvSpPr/>
      </dsp:nvSpPr>
      <dsp:spPr>
        <a:xfrm>
          <a:off x="306756" y="1175424"/>
          <a:ext cx="0" cy="1705517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4F0AA-ECF1-4832-91C6-BAED0B0355D0}">
      <dsp:nvSpPr>
        <dsp:cNvPr id="0" name=""/>
        <dsp:cNvSpPr/>
      </dsp:nvSpPr>
      <dsp:spPr>
        <a:xfrm>
          <a:off x="252825" y="2827010"/>
          <a:ext cx="107862" cy="1078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59496-6750-4C9F-A877-D92F312BB463}">
      <dsp:nvSpPr>
        <dsp:cNvPr id="0" name=""/>
        <dsp:cNvSpPr/>
      </dsp:nvSpPr>
      <dsp:spPr>
        <a:xfrm rot="18900000">
          <a:off x="2079025" y="4674215"/>
          <a:ext cx="423723" cy="423723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6D153-6BC4-4242-B308-86334872BF3F}">
      <dsp:nvSpPr>
        <dsp:cNvPr id="0" name=""/>
        <dsp:cNvSpPr/>
      </dsp:nvSpPr>
      <dsp:spPr>
        <a:xfrm>
          <a:off x="2126097" y="4721287"/>
          <a:ext cx="329579" cy="3295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D6724-5884-47BF-8803-74EB5689D58A}">
      <dsp:nvSpPr>
        <dsp:cNvPr id="0" name=""/>
        <dsp:cNvSpPr/>
      </dsp:nvSpPr>
      <dsp:spPr>
        <a:xfrm>
          <a:off x="2590505" y="2880942"/>
          <a:ext cx="3308606" cy="1705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/>
              <a:ea typeface="+mn-ea"/>
              <a:cs typeface="+mn-cs"/>
            </a:rPr>
            <a:t>Pilot &amp; field testing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/>
              <a:ea typeface="+mn-ea"/>
              <a:cs typeface="+mn-cs"/>
            </a:rPr>
            <a:t>Expand capabilities for</a:t>
          </a:r>
          <a:r>
            <a:rPr lang="en-US" sz="1400" b="0" kern="1200">
              <a:latin typeface="Aptos"/>
              <a:ea typeface="+mn-ea"/>
              <a:cs typeface="+mn-cs"/>
            </a:rPr>
            <a:t> increased production</a:t>
          </a:r>
          <a:endParaRPr lang="en-US" sz="1400" kern="1200">
            <a:latin typeface="Aptos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Aptos"/>
              <a:ea typeface="+mn-ea"/>
              <a:cs typeface="+mn-cs"/>
            </a:rPr>
            <a:t>Keep within Bryan - College Station, TX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196B24"/>
              </a:solidFill>
              <a:latin typeface="Aptos"/>
              <a:ea typeface="+mn-ea"/>
              <a:cs typeface="+mn-cs"/>
            </a:rPr>
            <a:t>Ties sold: 1.8K</a:t>
          </a:r>
        </a:p>
      </dsp:txBody>
      <dsp:txXfrm>
        <a:off x="2590505" y="2880942"/>
        <a:ext cx="3308606" cy="1705517"/>
      </dsp:txXfrm>
    </dsp:sp>
    <dsp:sp modelId="{5A0E7FEC-6A6E-498B-B5CF-F8E210125814}">
      <dsp:nvSpPr>
        <dsp:cNvPr id="0" name=""/>
        <dsp:cNvSpPr/>
      </dsp:nvSpPr>
      <dsp:spPr>
        <a:xfrm>
          <a:off x="2590505" y="4586459"/>
          <a:ext cx="3308606" cy="599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>
              <a:latin typeface="Biome"/>
              <a:ea typeface="+mn-ea"/>
              <a:cs typeface="+mn-cs"/>
            </a:rPr>
            <a:t>Year 2</a:t>
          </a:r>
        </a:p>
      </dsp:txBody>
      <dsp:txXfrm>
        <a:off x="2590505" y="4586459"/>
        <a:ext cx="3308606" cy="599235"/>
      </dsp:txXfrm>
    </dsp:sp>
    <dsp:sp modelId="{CB72CA1A-64E3-457B-9F66-CDF46F7FE10C}">
      <dsp:nvSpPr>
        <dsp:cNvPr id="0" name=""/>
        <dsp:cNvSpPr/>
      </dsp:nvSpPr>
      <dsp:spPr>
        <a:xfrm>
          <a:off x="2290887" y="2880942"/>
          <a:ext cx="0" cy="1705517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8503B-507E-4DD8-8DC1-BAAB4F617FBF}">
      <dsp:nvSpPr>
        <dsp:cNvPr id="0" name=""/>
        <dsp:cNvSpPr/>
      </dsp:nvSpPr>
      <dsp:spPr>
        <a:xfrm>
          <a:off x="2236956" y="2827010"/>
          <a:ext cx="107862" cy="1078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92DDD-426C-4B4B-A8D1-F295C0BC6D74}">
      <dsp:nvSpPr>
        <dsp:cNvPr id="0" name=""/>
        <dsp:cNvSpPr/>
      </dsp:nvSpPr>
      <dsp:spPr>
        <a:xfrm rot="8100000">
          <a:off x="4063157" y="663944"/>
          <a:ext cx="423723" cy="423723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38019-9266-4044-8A4B-BCBEDC525A24}">
      <dsp:nvSpPr>
        <dsp:cNvPr id="0" name=""/>
        <dsp:cNvSpPr/>
      </dsp:nvSpPr>
      <dsp:spPr>
        <a:xfrm>
          <a:off x="4110229" y="711016"/>
          <a:ext cx="329579" cy="3295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8DA43-5AD7-4CD3-8250-9151EE902C3C}">
      <dsp:nvSpPr>
        <dsp:cNvPr id="0" name=""/>
        <dsp:cNvSpPr/>
      </dsp:nvSpPr>
      <dsp:spPr>
        <a:xfrm>
          <a:off x="4574637" y="1175424"/>
          <a:ext cx="3308606" cy="1705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/>
              <a:ea typeface="+mn-ea"/>
              <a:cs typeface="+mn-cs"/>
            </a:rPr>
            <a:t>Texas expansion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Aptos"/>
              <a:ea typeface="+mn-ea"/>
              <a:cs typeface="+mn-cs"/>
            </a:rPr>
            <a:t>First Factory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Aptos"/>
              <a:ea typeface="+mn-ea"/>
              <a:cs typeface="+mn-cs"/>
            </a:rPr>
            <a:t>Pitch to Union Pacific &amp; expand within TX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196B24"/>
              </a:solidFill>
              <a:latin typeface="Aptos"/>
              <a:ea typeface="+mn-ea"/>
              <a:cs typeface="+mn-cs"/>
            </a:rPr>
            <a:t>Ties sold: 18k</a:t>
          </a:r>
        </a:p>
      </dsp:txBody>
      <dsp:txXfrm>
        <a:off x="4574637" y="1175424"/>
        <a:ext cx="3308606" cy="1705517"/>
      </dsp:txXfrm>
    </dsp:sp>
    <dsp:sp modelId="{9897C780-404F-451D-90EC-D694A1B45B2C}">
      <dsp:nvSpPr>
        <dsp:cNvPr id="0" name=""/>
        <dsp:cNvSpPr/>
      </dsp:nvSpPr>
      <dsp:spPr>
        <a:xfrm>
          <a:off x="4574637" y="576188"/>
          <a:ext cx="3308606" cy="599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Biome"/>
              <a:ea typeface="+mn-ea"/>
              <a:cs typeface="+mn-cs"/>
            </a:rPr>
            <a:t>Year 3</a:t>
          </a:r>
        </a:p>
      </dsp:txBody>
      <dsp:txXfrm>
        <a:off x="4574637" y="576188"/>
        <a:ext cx="3308606" cy="599235"/>
      </dsp:txXfrm>
    </dsp:sp>
    <dsp:sp modelId="{10C8833C-1274-4E08-B01B-FE6B12C6D7AF}">
      <dsp:nvSpPr>
        <dsp:cNvPr id="0" name=""/>
        <dsp:cNvSpPr/>
      </dsp:nvSpPr>
      <dsp:spPr>
        <a:xfrm>
          <a:off x="4275019" y="1175424"/>
          <a:ext cx="0" cy="1705517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C4228C-9109-4D36-9741-751ED2494F30}">
      <dsp:nvSpPr>
        <dsp:cNvPr id="0" name=""/>
        <dsp:cNvSpPr/>
      </dsp:nvSpPr>
      <dsp:spPr>
        <a:xfrm>
          <a:off x="4221087" y="2827010"/>
          <a:ext cx="107862" cy="1078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BB112-FEDA-4B51-9BC2-D9B55CE36528}">
      <dsp:nvSpPr>
        <dsp:cNvPr id="0" name=""/>
        <dsp:cNvSpPr/>
      </dsp:nvSpPr>
      <dsp:spPr>
        <a:xfrm rot="18900000">
          <a:off x="6047288" y="4674215"/>
          <a:ext cx="423723" cy="423723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09FEF-550E-457E-85BA-CA9449794D84}">
      <dsp:nvSpPr>
        <dsp:cNvPr id="0" name=""/>
        <dsp:cNvSpPr/>
      </dsp:nvSpPr>
      <dsp:spPr>
        <a:xfrm>
          <a:off x="6094360" y="4721287"/>
          <a:ext cx="329579" cy="3295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31798-E12B-49F2-90D9-2598C205BADB}">
      <dsp:nvSpPr>
        <dsp:cNvPr id="0" name=""/>
        <dsp:cNvSpPr/>
      </dsp:nvSpPr>
      <dsp:spPr>
        <a:xfrm>
          <a:off x="6558768" y="2880942"/>
          <a:ext cx="3308606" cy="1705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 panose="020B0004020202020204"/>
              <a:ea typeface="+mn-ea"/>
              <a:cs typeface="+mn-cs"/>
            </a:rPr>
            <a:t>Regional expansion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Aptos"/>
              <a:ea typeface="+mn-ea"/>
              <a:cs typeface="+mn-cs"/>
            </a:rPr>
            <a:t>Scale</a:t>
          </a:r>
          <a:r>
            <a:rPr lang="en-US" sz="1400" kern="1200">
              <a:latin typeface="Aptos"/>
              <a:ea typeface="+mn-ea"/>
              <a:cs typeface="+mn-cs"/>
            </a:rPr>
            <a:t> production and </a:t>
          </a:r>
          <a:r>
            <a:rPr lang="en-US" sz="1400" b="0" kern="1200">
              <a:latin typeface="Aptos"/>
              <a:ea typeface="+mn-ea"/>
              <a:cs typeface="+mn-cs"/>
            </a:rPr>
            <a:t>logistics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Aptos"/>
              <a:ea typeface="+mn-ea"/>
              <a:cs typeface="+mn-cs"/>
            </a:rPr>
            <a:t>Expand within Southern US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196B24"/>
              </a:solidFill>
              <a:latin typeface="Aptos"/>
              <a:ea typeface="+mn-ea"/>
              <a:cs typeface="+mn-cs"/>
            </a:rPr>
            <a:t>Ties sold: 90k</a:t>
          </a:r>
          <a:endParaRPr lang="en-US" sz="1400" kern="1200">
            <a:solidFill>
              <a:srgbClr val="196B24"/>
            </a:solidFill>
            <a:latin typeface="Aptos" panose="020B0004020202020204"/>
            <a:ea typeface="+mn-ea"/>
            <a:cs typeface="+mn-cs"/>
          </a:endParaRPr>
        </a:p>
      </dsp:txBody>
      <dsp:txXfrm>
        <a:off x="6558768" y="2880942"/>
        <a:ext cx="3308606" cy="1705517"/>
      </dsp:txXfrm>
    </dsp:sp>
    <dsp:sp modelId="{4B23E061-9CDF-4C4F-A65E-DCA81D6CB743}">
      <dsp:nvSpPr>
        <dsp:cNvPr id="0" name=""/>
        <dsp:cNvSpPr/>
      </dsp:nvSpPr>
      <dsp:spPr>
        <a:xfrm>
          <a:off x="6558768" y="4586459"/>
          <a:ext cx="3308606" cy="599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>
              <a:latin typeface="Biome"/>
              <a:ea typeface="+mn-ea"/>
              <a:cs typeface="+mn-cs"/>
            </a:rPr>
            <a:t>Year 4</a:t>
          </a:r>
        </a:p>
      </dsp:txBody>
      <dsp:txXfrm>
        <a:off x="6558768" y="4586459"/>
        <a:ext cx="3308606" cy="599235"/>
      </dsp:txXfrm>
    </dsp:sp>
    <dsp:sp modelId="{69A8B29F-4499-486C-8AD9-A9C0791E74C6}">
      <dsp:nvSpPr>
        <dsp:cNvPr id="0" name=""/>
        <dsp:cNvSpPr/>
      </dsp:nvSpPr>
      <dsp:spPr>
        <a:xfrm>
          <a:off x="6259150" y="2880942"/>
          <a:ext cx="0" cy="1705517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466EC-2A3D-4F85-B0C3-A5F75CBE3D5C}">
      <dsp:nvSpPr>
        <dsp:cNvPr id="0" name=""/>
        <dsp:cNvSpPr/>
      </dsp:nvSpPr>
      <dsp:spPr>
        <a:xfrm>
          <a:off x="6205219" y="2827010"/>
          <a:ext cx="107862" cy="1078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378F8-257C-4372-84F1-8F731CD73ABC}">
      <dsp:nvSpPr>
        <dsp:cNvPr id="0" name=""/>
        <dsp:cNvSpPr/>
      </dsp:nvSpPr>
      <dsp:spPr>
        <a:xfrm rot="8100000">
          <a:off x="8031420" y="663944"/>
          <a:ext cx="423723" cy="423723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3D4A4-6B00-474C-BEC0-5BFA25C30CD0}">
      <dsp:nvSpPr>
        <dsp:cNvPr id="0" name=""/>
        <dsp:cNvSpPr/>
      </dsp:nvSpPr>
      <dsp:spPr>
        <a:xfrm>
          <a:off x="8078492" y="711016"/>
          <a:ext cx="329579" cy="3295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953D9-EDC3-4AC0-93D6-2D1091C4693D}">
      <dsp:nvSpPr>
        <dsp:cNvPr id="0" name=""/>
        <dsp:cNvSpPr/>
      </dsp:nvSpPr>
      <dsp:spPr>
        <a:xfrm>
          <a:off x="8542899" y="1175424"/>
          <a:ext cx="3308606" cy="1705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/>
              <a:ea typeface="+mn-ea"/>
              <a:cs typeface="+mn-cs"/>
            </a:rPr>
            <a:t>National expansion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/>
              <a:ea typeface="+mn-ea"/>
              <a:cs typeface="+mn-cs"/>
            </a:rPr>
            <a:t>Expand deployments to railroad corridors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/>
              <a:ea typeface="+mn-ea"/>
              <a:cs typeface="+mn-cs"/>
            </a:rPr>
            <a:t>Develop next-generation composite formulation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rgbClr val="196B24"/>
              </a:solidFill>
              <a:latin typeface="Aptos"/>
              <a:ea typeface="+mn-ea"/>
              <a:cs typeface="+mn-cs"/>
            </a:rPr>
            <a:t>Ties sold: 300k </a:t>
          </a:r>
          <a:endParaRPr lang="en-US" sz="1400" kern="1200">
            <a:solidFill>
              <a:srgbClr val="196B24"/>
            </a:solidFill>
            <a:latin typeface="Aptos" panose="020B0004020202020204"/>
            <a:ea typeface="+mn-ea"/>
            <a:cs typeface="+mn-cs"/>
          </a:endParaRPr>
        </a:p>
      </dsp:txBody>
      <dsp:txXfrm>
        <a:off x="8542899" y="1175424"/>
        <a:ext cx="3308606" cy="1705517"/>
      </dsp:txXfrm>
    </dsp:sp>
    <dsp:sp modelId="{84B3FD5B-1971-42D5-9870-BD9BA2AB5278}">
      <dsp:nvSpPr>
        <dsp:cNvPr id="0" name=""/>
        <dsp:cNvSpPr/>
      </dsp:nvSpPr>
      <dsp:spPr>
        <a:xfrm>
          <a:off x="8542899" y="576188"/>
          <a:ext cx="3308606" cy="599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>
              <a:latin typeface="Biome"/>
              <a:ea typeface="+mn-ea"/>
              <a:cs typeface="+mn-cs"/>
            </a:rPr>
            <a:t>Year 5</a:t>
          </a:r>
        </a:p>
      </dsp:txBody>
      <dsp:txXfrm>
        <a:off x="8542899" y="576188"/>
        <a:ext cx="3308606" cy="599235"/>
      </dsp:txXfrm>
    </dsp:sp>
    <dsp:sp modelId="{409F7C3F-362E-4C9D-AE65-34A9B048DD98}">
      <dsp:nvSpPr>
        <dsp:cNvPr id="0" name=""/>
        <dsp:cNvSpPr/>
      </dsp:nvSpPr>
      <dsp:spPr>
        <a:xfrm>
          <a:off x="8243281" y="1175424"/>
          <a:ext cx="0" cy="1705517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80F759-9E25-40CB-A40E-491C660EE112}">
      <dsp:nvSpPr>
        <dsp:cNvPr id="0" name=""/>
        <dsp:cNvSpPr/>
      </dsp:nvSpPr>
      <dsp:spPr>
        <a:xfrm>
          <a:off x="8188003" y="2827010"/>
          <a:ext cx="107862" cy="1078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79AFE0-94FE-400A-8EAE-8DC14B909CE8}">
      <dsp:nvSpPr>
        <dsp:cNvPr id="0" name=""/>
        <dsp:cNvSpPr/>
      </dsp:nvSpPr>
      <dsp:spPr>
        <a:xfrm>
          <a:off x="834628" y="0"/>
          <a:ext cx="9459118" cy="68326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A668A-06C3-4FD0-9F33-19680B8ADE53}">
      <dsp:nvSpPr>
        <dsp:cNvPr id="0" name=""/>
        <dsp:cNvSpPr/>
      </dsp:nvSpPr>
      <dsp:spPr>
        <a:xfrm>
          <a:off x="377104" y="2049780"/>
          <a:ext cx="3338512" cy="2733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</a:rPr>
            <a:t>Growth into international markets.</a:t>
          </a:r>
          <a:endParaRPr lang="en-US" sz="2300" kern="1200"/>
        </a:p>
      </dsp:txBody>
      <dsp:txXfrm>
        <a:off x="510520" y="2183196"/>
        <a:ext cx="3071680" cy="2466208"/>
      </dsp:txXfrm>
    </dsp:sp>
    <dsp:sp modelId="{8DA640E7-32A6-4A43-A91D-CBB24BF59E60}">
      <dsp:nvSpPr>
        <dsp:cNvPr id="0" name=""/>
        <dsp:cNvSpPr/>
      </dsp:nvSpPr>
      <dsp:spPr>
        <a:xfrm>
          <a:off x="3894931" y="2049780"/>
          <a:ext cx="3338512" cy="27330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</a:rPr>
            <a:t>Reaching the undesirable plastics in countries with lacking infrastructure to properly recycle.</a:t>
          </a:r>
          <a:endParaRPr lang="en-US" sz="2300" kern="1200"/>
        </a:p>
      </dsp:txBody>
      <dsp:txXfrm>
        <a:off x="4028347" y="2183196"/>
        <a:ext cx="3071680" cy="2466208"/>
      </dsp:txXfrm>
    </dsp:sp>
    <dsp:sp modelId="{479E2016-EE27-4E26-A784-3E02249F2BA4}">
      <dsp:nvSpPr>
        <dsp:cNvPr id="0" name=""/>
        <dsp:cNvSpPr/>
      </dsp:nvSpPr>
      <dsp:spPr>
        <a:xfrm>
          <a:off x="7412758" y="2049780"/>
          <a:ext cx="3338512" cy="27330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</a:rPr>
            <a:t>Expanding our scopes into other railway systems beyond the US borders, pushing our goal of impacting the environment further.</a:t>
          </a:r>
          <a:endParaRPr lang="en-US" sz="2300" kern="1200"/>
        </a:p>
      </dsp:txBody>
      <dsp:txXfrm>
        <a:off x="7546174" y="2183196"/>
        <a:ext cx="3071680" cy="2466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54325-6862-4BB3-B46B-713DE3AC352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ECD44-FC93-4323-A555-486514FD9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2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U.S. railroads replace around 20 million wood ties per year</a:t>
            </a:r>
          </a:p>
          <a:p>
            <a:r>
              <a:rPr lang="en-US"/>
              <a:t>Wood is roughly 80-90% of all ties in track, each mile using about 3200-3500 ties, 400-450 million ties are in use.</a:t>
            </a:r>
          </a:p>
          <a:p>
            <a:r>
              <a:rPr lang="en-US"/>
              <a:t>320-400 millions of those ties are creosote‑treated wood.</a:t>
            </a:r>
          </a:p>
          <a:p>
            <a:r>
              <a:rPr lang="en-US"/>
              <a:t>Idea: replace wood ties with composite during maintenance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ECD44-FC93-4323-A555-486514FD99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28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OF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ECD44-FC93-4323-A555-486514FD99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7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SUPLEMENTAL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ECD44-FC93-4323-A555-486514FD99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66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SUPLEMENTAL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ECD44-FC93-4323-A555-486514FD99D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12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A60-DD23-4901-AA47-CB68F61FAF8B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37BB-8DE0-4E86-8CE4-634A95613CB7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3AAD-90B2-4920-B284-ED96BA8053DA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C886-0B80-4F11-ADAE-490C8ED0BD15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70A9-A790-4E17-AC2E-2706EB3D0B62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6C70E-E3EE-459F-8303-69D4ACB63ED0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588B-3CAF-4BB7-A99A-7629670620A1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D9AD-92D0-4E48-8A8A-E106BCC56FA2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448-2869-4959-94D6-080881A31F18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F33CA-915A-4091-83A5-24326D23DABC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8830-7E18-4954-BBBD-360C6EF86384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654C2-61DC-42A2-B4D5-43DE0F5B522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845-BF7E-73AE-CED0-69F7A500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1CE8D1-07D8-C181-24B0-3B99F306A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12C13-CFBF-2822-9CFD-7D850D921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4" b="31389"/>
          <a:stretch>
            <a:fillRect/>
          </a:stretch>
        </p:blipFill>
        <p:spPr>
          <a:xfrm>
            <a:off x="20" y="3900"/>
            <a:ext cx="12191980" cy="56676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9E2DA1-7F7E-59CA-F6E2-13AF5FBAB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61" r="41336"/>
          <a:stretch>
            <a:fillRect/>
          </a:stretch>
        </p:blipFill>
        <p:spPr>
          <a:xfrm rot="16200000">
            <a:off x="29373265" y="-49711"/>
            <a:ext cx="1669495" cy="1272322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E01603F-D393-1ABF-757D-FBD2535733EB}"/>
              </a:ext>
            </a:extLst>
          </p:cNvPr>
          <p:cNvGrpSpPr/>
          <p:nvPr/>
        </p:nvGrpSpPr>
        <p:grpSpPr>
          <a:xfrm>
            <a:off x="11955028" y="5496556"/>
            <a:ext cx="12736209" cy="1669497"/>
            <a:chOff x="-221554" y="5496556"/>
            <a:chExt cx="12736209" cy="166949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5D25146-E7FB-E6EC-373C-80FCB6C94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r="41336" b="3482"/>
            <a:stretch>
              <a:fillRect/>
            </a:stretch>
          </p:blipFill>
          <p:spPr>
            <a:xfrm rot="16200000">
              <a:off x="5083767" y="191237"/>
              <a:ext cx="1669495" cy="122801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5F5BC91-089E-B9C6-8C0C-11555B163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t="91422" r="41336"/>
            <a:stretch>
              <a:fillRect/>
            </a:stretch>
          </p:blipFill>
          <p:spPr>
            <a:xfrm rot="16200000">
              <a:off x="11134206" y="5785602"/>
              <a:ext cx="1669495" cy="10914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033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B1C7-10CA-88CC-8CAC-88260B5F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2" y="734715"/>
            <a:ext cx="5857702" cy="943177"/>
          </a:xfrm>
        </p:spPr>
        <p:txBody>
          <a:bodyPr>
            <a:normAutofit/>
          </a:bodyPr>
          <a:lstStyle/>
          <a:p>
            <a:r>
              <a:rPr lang="en-US" sz="3200" b="1">
                <a:latin typeface="Biome" panose="020B0503030204020804" pitchFamily="34" charset="0"/>
                <a:cs typeface="Biome" panose="020B0503030204020804" pitchFamily="34" charset="0"/>
              </a:rPr>
              <a:t>THE WOODEN RAILWAY 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B48F-00D2-7711-81B2-56B431EAF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772" y="1680198"/>
            <a:ext cx="6170566" cy="4380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/>
              <a:t>Deforestation</a:t>
            </a:r>
            <a:endParaRPr lang="en-US" sz="2400"/>
          </a:p>
          <a:p>
            <a:pPr marL="0" indent="0">
              <a:buNone/>
            </a:pPr>
            <a:r>
              <a:rPr lang="en-US" sz="2000"/>
              <a:t>20 Million trees cut annually for U.S Rails. $2B deforestation industry.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400" b="1"/>
              <a:t>2. Wood rot</a:t>
            </a:r>
            <a:endParaRPr lang="en-US" sz="2400"/>
          </a:p>
          <a:p>
            <a:pPr marL="0" indent="0">
              <a:buNone/>
            </a:pPr>
            <a:r>
              <a:rPr lang="en-US" sz="2000"/>
              <a:t>Ties rot and require replacement every 10 years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400" b="1"/>
              <a:t>3. Cancer coating</a:t>
            </a:r>
          </a:p>
          <a:p>
            <a:pPr marL="0" indent="0">
              <a:buNone/>
            </a:pPr>
            <a:r>
              <a:rPr lang="en-US" sz="2000"/>
              <a:t>Treated with creosote, a toxic preservative and carcinogen that seeps into soil and water supplies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4C907-1782-8FD5-3224-3D8BB0DB6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pic>
        <p:nvPicPr>
          <p:cNvPr id="5" name="Picture 4" descr="A close-up of a train track&#10;&#10;AI-generated content may be incorrect.">
            <a:extLst>
              <a:ext uri="{FF2B5EF4-FFF2-40B4-BE49-F238E27FC236}">
                <a16:creationId xmlns:a16="http://schemas.microsoft.com/office/drawing/2014/main" id="{7B69B01E-0B16-970A-9CF2-ABD190D9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00" y="1712109"/>
            <a:ext cx="5539946" cy="34120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18F5F09-11F5-E212-FEA3-F829D83B21A2}"/>
              </a:ext>
            </a:extLst>
          </p:cNvPr>
          <p:cNvSpPr/>
          <p:nvPr/>
        </p:nvSpPr>
        <p:spPr>
          <a:xfrm rot="-3240000">
            <a:off x="1824717" y="4459550"/>
            <a:ext cx="1510392" cy="44903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5E11EA-0DA6-0B01-3D6F-ACF1C3A89B38}"/>
              </a:ext>
            </a:extLst>
          </p:cNvPr>
          <p:cNvGrpSpPr/>
          <p:nvPr/>
        </p:nvGrpSpPr>
        <p:grpSpPr>
          <a:xfrm>
            <a:off x="-221554" y="5496556"/>
            <a:ext cx="12736209" cy="1669497"/>
            <a:chOff x="-221554" y="5496556"/>
            <a:chExt cx="12736209" cy="1669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2E84D2-DCE8-6A8D-D59B-3A2EB5F1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r="41336" b="3482"/>
            <a:stretch>
              <a:fillRect/>
            </a:stretch>
          </p:blipFill>
          <p:spPr>
            <a:xfrm rot="16200000">
              <a:off x="5083767" y="191237"/>
              <a:ext cx="1669495" cy="1228013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8A3F1B-029A-6FA0-2F51-DEA9D027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t="91422" r="41336"/>
            <a:stretch>
              <a:fillRect/>
            </a:stretch>
          </p:blipFill>
          <p:spPr>
            <a:xfrm rot="16200000">
              <a:off x="11134206" y="5785602"/>
              <a:ext cx="1669495" cy="10914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0301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63F053-99B8-397A-029D-A91C490A44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pic>
        <p:nvPicPr>
          <p:cNvPr id="6" name="Picture 5" descr="A black rectangular object on a white background&#10;&#10;AI-generated content may be incorrect.">
            <a:extLst>
              <a:ext uri="{FF2B5EF4-FFF2-40B4-BE49-F238E27FC236}">
                <a16:creationId xmlns:a16="http://schemas.microsoft.com/office/drawing/2014/main" id="{73F171B0-F844-A07C-8E7D-7EAB533E8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7" t="5627" r="31001" b="-801"/>
          <a:stretch>
            <a:fillRect/>
          </a:stretch>
        </p:blipFill>
        <p:spPr>
          <a:xfrm>
            <a:off x="3776089" y="927885"/>
            <a:ext cx="5534165" cy="544930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F5D111-3E54-1E65-3E1F-6BDF5759BDF0}"/>
              </a:ext>
            </a:extLst>
          </p:cNvPr>
          <p:cNvGrpSpPr/>
          <p:nvPr/>
        </p:nvGrpSpPr>
        <p:grpSpPr>
          <a:xfrm>
            <a:off x="-12386556" y="5496556"/>
            <a:ext cx="12736209" cy="1669497"/>
            <a:chOff x="-221554" y="5496556"/>
            <a:chExt cx="12736209" cy="166949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51B5605-E9B9-0A69-D2D3-FC522669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r="41336" b="3482"/>
            <a:stretch>
              <a:fillRect/>
            </a:stretch>
          </p:blipFill>
          <p:spPr>
            <a:xfrm rot="16200000">
              <a:off x="5083767" y="191237"/>
              <a:ext cx="1669495" cy="1228013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0B95295-2B55-5FE0-1F31-0DBD098B1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61" t="91422" r="41336"/>
            <a:stretch>
              <a:fillRect/>
            </a:stretch>
          </p:blipFill>
          <p:spPr>
            <a:xfrm rot="16200000">
              <a:off x="11134206" y="5785602"/>
              <a:ext cx="1669495" cy="109140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7670D1-F65C-337F-9EBB-1A578DBE378D}"/>
              </a:ext>
            </a:extLst>
          </p:cNvPr>
          <p:cNvGrpSpPr/>
          <p:nvPr/>
        </p:nvGrpSpPr>
        <p:grpSpPr>
          <a:xfrm>
            <a:off x="11934063" y="5278216"/>
            <a:ext cx="35817813" cy="2390008"/>
            <a:chOff x="-12480417" y="5278216"/>
            <a:chExt cx="35817813" cy="239000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7ED0B64-33F7-BAF2-A090-83BF1F97EF2C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4E4167E-10CE-96D6-8EEE-CD00EA74D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5CB22D8E-7EA7-4C32-942F-095AE643E6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37B30E6-E5C0-91F8-037B-3555B6703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3122"/>
              <a:ext cx="2387981" cy="121381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2619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9B3D-2E85-15BD-739C-B1F3DA1BA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7CF1-AE9D-7460-5B98-83F4208CD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604" y="685090"/>
            <a:ext cx="6536535" cy="6261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4800" b="1" dirty="0">
                <a:latin typeface="Biome" panose="020B0502040204020203" pitchFamily="34" charset="0"/>
                <a:cs typeface="Biome" panose="020B0502040204020203" pitchFamily="34" charset="0"/>
              </a:rPr>
              <a:t>THE                       TITAN</a:t>
            </a:r>
            <a:endParaRPr lang="en-US" sz="4800" b="1" dirty="0"/>
          </a:p>
          <a:p>
            <a:endParaRPr lang="en-US" sz="4800" b="1" dirty="0"/>
          </a:p>
          <a:p>
            <a:endParaRPr lang="en-US" sz="4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1E8918-7FDD-4F40-0787-3C46B52A39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26" b="28648"/>
          <a:stretch>
            <a:fillRect/>
          </a:stretch>
        </p:blipFill>
        <p:spPr>
          <a:xfrm>
            <a:off x="1618327" y="365710"/>
            <a:ext cx="3138810" cy="12648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F1CC0F-5A84-0A19-9A29-7D34535FAF2B}"/>
              </a:ext>
            </a:extLst>
          </p:cNvPr>
          <p:cNvSpPr txBox="1"/>
          <p:nvPr/>
        </p:nvSpPr>
        <p:spPr>
          <a:xfrm>
            <a:off x="310027" y="1730568"/>
            <a:ext cx="6895011" cy="39857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300" b="1" dirty="0"/>
              <a:t>Two birds, one stone</a:t>
            </a:r>
          </a:p>
          <a:p>
            <a:r>
              <a:rPr lang="en-US" sz="2300" dirty="0"/>
              <a:t>Polymer engineered from unrecycled  #3,#6,#7  plastics, reducing both plastic waste and deforestation.</a:t>
            </a:r>
          </a:p>
          <a:p>
            <a:endParaRPr lang="en-US" sz="2300" dirty="0"/>
          </a:p>
          <a:p>
            <a:r>
              <a:rPr lang="en-US" sz="2300" b="1" dirty="0"/>
              <a:t>Durable</a:t>
            </a:r>
          </a:p>
          <a:p>
            <a:r>
              <a:rPr lang="en-US" sz="2300" dirty="0"/>
              <a:t>Lasts 50+ years (vs.10 for wood)</a:t>
            </a:r>
          </a:p>
          <a:p>
            <a:endParaRPr lang="en-US" sz="2300" dirty="0"/>
          </a:p>
          <a:p>
            <a:r>
              <a:rPr lang="en-US" sz="2300" b="1" dirty="0"/>
              <a:t>Cancer-free</a:t>
            </a:r>
          </a:p>
          <a:p>
            <a:r>
              <a:rPr lang="en-US" sz="2300" dirty="0"/>
              <a:t>No carcinogen chemicals seeping into soil and water supplies.</a:t>
            </a:r>
          </a:p>
        </p:txBody>
      </p:sp>
      <p:pic>
        <p:nvPicPr>
          <p:cNvPr id="18" name="Picture 17" descr="A black rectangular object on a white background&#10;&#10;AI-generated content may be incorrect.">
            <a:extLst>
              <a:ext uri="{FF2B5EF4-FFF2-40B4-BE49-F238E27FC236}">
                <a16:creationId xmlns:a16="http://schemas.microsoft.com/office/drawing/2014/main" id="{8240C753-B7A8-1741-B532-08CCB5EB9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7" t="5627" r="31001" b="-801"/>
          <a:stretch>
            <a:fillRect/>
          </a:stretch>
        </p:blipFill>
        <p:spPr>
          <a:xfrm>
            <a:off x="7548001" y="1662544"/>
            <a:ext cx="4107348" cy="4044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07A68D3-3603-012C-9933-5E3C886BEA55}"/>
              </a:ext>
            </a:extLst>
          </p:cNvPr>
          <p:cNvGrpSpPr/>
          <p:nvPr/>
        </p:nvGrpSpPr>
        <p:grpSpPr>
          <a:xfrm>
            <a:off x="-288417" y="5278216"/>
            <a:ext cx="35817813" cy="2390008"/>
            <a:chOff x="-12480417" y="5278216"/>
            <a:chExt cx="35817813" cy="239000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01AF82E-F638-A3B6-9425-07A25A020584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7C3AD180-7C3F-A490-446D-D53451514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14E7B1D9-5FA6-EF6D-BD69-C38F1EBE4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ECF7D1C-878D-545E-CD39-2ECD5F9A4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3122"/>
              <a:ext cx="2387981" cy="1213817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A532EE-BDBB-CAC0-0BD9-1F5307669A45}"/>
              </a:ext>
            </a:extLst>
          </p:cNvPr>
          <p:cNvSpPr txBox="1"/>
          <p:nvPr/>
        </p:nvSpPr>
        <p:spPr>
          <a:xfrm>
            <a:off x="336339" y="1229011"/>
            <a:ext cx="6353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3A202"/>
                </a:solidFill>
              </a:rPr>
              <a:t>THE ENVIRONMENTAL ALTERNATIVE</a:t>
            </a:r>
          </a:p>
        </p:txBody>
      </p:sp>
    </p:spTree>
    <p:extLst>
      <p:ext uri="{BB962C8B-B14F-4D97-AF65-F5344CB8AC3E}">
        <p14:creationId xmlns:p14="http://schemas.microsoft.com/office/powerpoint/2010/main" val="1924849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21BC9-E084-3B02-B08B-81E7414D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6B52-8F52-4042-978D-E7045192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45" y="535825"/>
            <a:ext cx="5862056" cy="1220047"/>
          </a:xfrm>
        </p:spPr>
        <p:txBody>
          <a:bodyPr>
            <a:normAutofit/>
          </a:bodyPr>
          <a:lstStyle/>
          <a:p>
            <a:r>
              <a:rPr lang="en-US" sz="4000" b="1">
                <a:latin typeface="Biome" panose="020B0503030204020804" pitchFamily="34" charset="0"/>
                <a:cs typeface="Biome" panose="020B0503030204020804" pitchFamily="34" charset="0"/>
              </a:rPr>
              <a:t>Agenda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020322-2981-B54E-1B18-1149AF9B4F63}"/>
              </a:ext>
            </a:extLst>
          </p:cNvPr>
          <p:cNvGrpSpPr/>
          <p:nvPr/>
        </p:nvGrpSpPr>
        <p:grpSpPr>
          <a:xfrm>
            <a:off x="-12480417" y="5280243"/>
            <a:ext cx="35817813" cy="2389764"/>
            <a:chOff x="-12480417" y="5280243"/>
            <a:chExt cx="35817813" cy="23897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F2DF1F-3DC0-68FA-4AD2-CBD4A7CFF2B7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FE3DEF1-29E9-096C-4F4C-D837C297C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A9562B6-C682-327F-525F-C90C11AB3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B963196-E72B-0610-095D-EBC44550A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F434BB3-20A6-FA4E-4FF9-DBEE4DCED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27744033" y="405149"/>
            <a:ext cx="2387981" cy="121381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4C3BE9-AD9F-647C-60B9-D5BEDE0108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7AEF36BE-D014-25D5-F442-2B1991D958AE}"/>
              </a:ext>
            </a:extLst>
          </p:cNvPr>
          <p:cNvGrpSpPr/>
          <p:nvPr/>
        </p:nvGrpSpPr>
        <p:grpSpPr>
          <a:xfrm>
            <a:off x="5403729" y="1755872"/>
            <a:ext cx="5866938" cy="3791996"/>
            <a:chOff x="1306114" y="1692545"/>
            <a:chExt cx="5866938" cy="379199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ECA8D0-FED9-8887-7368-4697DF3A9437}"/>
                </a:ext>
              </a:extLst>
            </p:cNvPr>
            <p:cNvGrpSpPr/>
            <p:nvPr/>
          </p:nvGrpSpPr>
          <p:grpSpPr>
            <a:xfrm>
              <a:off x="1306114" y="1692545"/>
              <a:ext cx="5866938" cy="3791996"/>
              <a:chOff x="1306114" y="1692545"/>
              <a:chExt cx="5866938" cy="3791996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5E1B61F-4CFA-A17E-D6B6-1A79B5CC4B08}"/>
                  </a:ext>
                </a:extLst>
              </p:cNvPr>
              <p:cNvSpPr/>
              <p:nvPr/>
            </p:nvSpPr>
            <p:spPr>
              <a:xfrm>
                <a:off x="1833217" y="1692545"/>
                <a:ext cx="5339835" cy="1054208"/>
              </a:xfrm>
              <a:custGeom>
                <a:avLst/>
                <a:gdLst>
                  <a:gd name="csX0" fmla="*/ 0 w 4478374"/>
                  <a:gd name="csY0" fmla="*/ 0 h 1054206"/>
                  <a:gd name="csX1" fmla="*/ 3951271 w 4478374"/>
                  <a:gd name="csY1" fmla="*/ 0 h 1054206"/>
                  <a:gd name="csX2" fmla="*/ 4478374 w 4478374"/>
                  <a:gd name="csY2" fmla="*/ 527103 h 1054206"/>
                  <a:gd name="csX3" fmla="*/ 3951271 w 4478374"/>
                  <a:gd name="csY3" fmla="*/ 1054206 h 1054206"/>
                  <a:gd name="csX4" fmla="*/ 0 w 4478374"/>
                  <a:gd name="csY4" fmla="*/ 1054206 h 1054206"/>
                  <a:gd name="csX5" fmla="*/ 0 w 4478374"/>
                  <a:gd name="csY5" fmla="*/ 0 h 10542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478374" h="1054206">
                    <a:moveTo>
                      <a:pt x="4478374" y="1054205"/>
                    </a:moveTo>
                    <a:lnTo>
                      <a:pt x="527103" y="1054205"/>
                    </a:lnTo>
                    <a:lnTo>
                      <a:pt x="0" y="527103"/>
                    </a:lnTo>
                    <a:lnTo>
                      <a:pt x="527103" y="1"/>
                    </a:lnTo>
                    <a:lnTo>
                      <a:pt x="4478374" y="1"/>
                    </a:lnTo>
                    <a:lnTo>
                      <a:pt x="4478374" y="1054205"/>
                    </a:lnTo>
                    <a:close/>
                  </a:path>
                </a:pathLst>
              </a:custGeom>
              <a:solidFill>
                <a:srgbClr val="46A20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28427" tIns="83821" rIns="156464" bIns="83821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200" b="1" kern="1200"/>
                  <a:t>Design/Fabrication</a:t>
                </a:r>
                <a:endParaRPr lang="en-US" sz="2200" kern="12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E1BC300-79FF-B06D-88A9-8A4C205CDB7B}"/>
                  </a:ext>
                </a:extLst>
              </p:cNvPr>
              <p:cNvSpPr/>
              <p:nvPr/>
            </p:nvSpPr>
            <p:spPr>
              <a:xfrm>
                <a:off x="1306114" y="1692546"/>
                <a:ext cx="1054206" cy="1054206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27F8945-926F-4586-E78D-187467E20299}"/>
                  </a:ext>
                </a:extLst>
              </p:cNvPr>
              <p:cNvSpPr/>
              <p:nvPr/>
            </p:nvSpPr>
            <p:spPr>
              <a:xfrm>
                <a:off x="1833217" y="3061439"/>
                <a:ext cx="5339835" cy="1054207"/>
              </a:xfrm>
              <a:custGeom>
                <a:avLst/>
                <a:gdLst>
                  <a:gd name="csX0" fmla="*/ 0 w 4478374"/>
                  <a:gd name="csY0" fmla="*/ 0 h 1054206"/>
                  <a:gd name="csX1" fmla="*/ 3951271 w 4478374"/>
                  <a:gd name="csY1" fmla="*/ 0 h 1054206"/>
                  <a:gd name="csX2" fmla="*/ 4478374 w 4478374"/>
                  <a:gd name="csY2" fmla="*/ 527103 h 1054206"/>
                  <a:gd name="csX3" fmla="*/ 3951271 w 4478374"/>
                  <a:gd name="csY3" fmla="*/ 1054206 h 1054206"/>
                  <a:gd name="csX4" fmla="*/ 0 w 4478374"/>
                  <a:gd name="csY4" fmla="*/ 1054206 h 1054206"/>
                  <a:gd name="csX5" fmla="*/ 0 w 4478374"/>
                  <a:gd name="csY5" fmla="*/ 0 h 10542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478374" h="1054206">
                    <a:moveTo>
                      <a:pt x="4478374" y="1054205"/>
                    </a:moveTo>
                    <a:lnTo>
                      <a:pt x="527103" y="1054205"/>
                    </a:lnTo>
                    <a:lnTo>
                      <a:pt x="0" y="527103"/>
                    </a:lnTo>
                    <a:lnTo>
                      <a:pt x="527103" y="1"/>
                    </a:lnTo>
                    <a:lnTo>
                      <a:pt x="4478374" y="1"/>
                    </a:lnTo>
                    <a:lnTo>
                      <a:pt x="4478374" y="1054205"/>
                    </a:lnTo>
                    <a:close/>
                  </a:path>
                </a:pathLst>
              </a:custGeom>
              <a:solidFill>
                <a:schemeClr val="accent6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28427" tIns="83821" rIns="156464" bIns="8382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200" b="1" kern="1200"/>
                  <a:t>Scalability/Marketing</a:t>
                </a:r>
                <a:endParaRPr lang="en-US" sz="2200" kern="120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370F45F-889E-B8E6-898C-687C86385D2A}"/>
                  </a:ext>
                </a:extLst>
              </p:cNvPr>
              <p:cNvSpPr/>
              <p:nvPr/>
            </p:nvSpPr>
            <p:spPr>
              <a:xfrm>
                <a:off x="1306114" y="3061440"/>
                <a:ext cx="1054206" cy="1054206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B0A2338-7199-2980-5E3D-BDE8C796C8E8}"/>
                  </a:ext>
                </a:extLst>
              </p:cNvPr>
              <p:cNvSpPr/>
              <p:nvPr/>
            </p:nvSpPr>
            <p:spPr>
              <a:xfrm>
                <a:off x="1833217" y="4430334"/>
                <a:ext cx="5339835" cy="1054207"/>
              </a:xfrm>
              <a:custGeom>
                <a:avLst/>
                <a:gdLst>
                  <a:gd name="csX0" fmla="*/ 0 w 4478374"/>
                  <a:gd name="csY0" fmla="*/ 0 h 1054206"/>
                  <a:gd name="csX1" fmla="*/ 3951271 w 4478374"/>
                  <a:gd name="csY1" fmla="*/ 0 h 1054206"/>
                  <a:gd name="csX2" fmla="*/ 4478374 w 4478374"/>
                  <a:gd name="csY2" fmla="*/ 527103 h 1054206"/>
                  <a:gd name="csX3" fmla="*/ 3951271 w 4478374"/>
                  <a:gd name="csY3" fmla="*/ 1054206 h 1054206"/>
                  <a:gd name="csX4" fmla="*/ 0 w 4478374"/>
                  <a:gd name="csY4" fmla="*/ 1054206 h 1054206"/>
                  <a:gd name="csX5" fmla="*/ 0 w 4478374"/>
                  <a:gd name="csY5" fmla="*/ 0 h 10542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478374" h="1054206">
                    <a:moveTo>
                      <a:pt x="4478374" y="1054205"/>
                    </a:moveTo>
                    <a:lnTo>
                      <a:pt x="527103" y="1054205"/>
                    </a:lnTo>
                    <a:lnTo>
                      <a:pt x="0" y="527103"/>
                    </a:lnTo>
                    <a:lnTo>
                      <a:pt x="527103" y="1"/>
                    </a:lnTo>
                    <a:lnTo>
                      <a:pt x="4478374" y="1"/>
                    </a:lnTo>
                    <a:lnTo>
                      <a:pt x="4478374" y="1054205"/>
                    </a:lnTo>
                    <a:close/>
                  </a:path>
                </a:pathLst>
              </a:custGeom>
              <a:solidFill>
                <a:schemeClr val="accent6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28427" tIns="83821" rIns="156464" bIns="8382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200" b="1" kern="1200"/>
                  <a:t>Timeline/Projection</a:t>
                </a:r>
                <a:endParaRPr lang="en-US" sz="2200" kern="120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B9AF0D3-BA32-625B-6461-2C3C2F1660A9}"/>
                  </a:ext>
                </a:extLst>
              </p:cNvPr>
              <p:cNvSpPr/>
              <p:nvPr/>
            </p:nvSpPr>
            <p:spPr>
              <a:xfrm>
                <a:off x="1306114" y="4430335"/>
                <a:ext cx="1054206" cy="1054206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" name="Graphic 25" descr="Blueprint with solid fill">
              <a:extLst>
                <a:ext uri="{FF2B5EF4-FFF2-40B4-BE49-F238E27FC236}">
                  <a16:creationId xmlns:a16="http://schemas.microsoft.com/office/drawing/2014/main" id="{67B4657C-9E19-88AA-1DE1-9418E6F5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3175" y="1791950"/>
              <a:ext cx="846960" cy="846960"/>
            </a:xfrm>
            <a:prstGeom prst="rect">
              <a:avLst/>
            </a:prstGeom>
          </p:spPr>
        </p:pic>
        <p:pic>
          <p:nvPicPr>
            <p:cNvPr id="27" name="Graphic 26" descr="Bar graph with upward trend with solid fill">
              <a:extLst>
                <a:ext uri="{FF2B5EF4-FFF2-40B4-BE49-F238E27FC236}">
                  <a16:creationId xmlns:a16="http://schemas.microsoft.com/office/drawing/2014/main" id="{FF5BA8DE-7D59-9A61-E543-ECBF27276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35640" y="4562330"/>
              <a:ext cx="960908" cy="802975"/>
            </a:xfrm>
            <a:prstGeom prst="rect">
              <a:avLst/>
            </a:prstGeom>
          </p:spPr>
        </p:pic>
        <p:pic>
          <p:nvPicPr>
            <p:cNvPr id="29" name="Graphic 28" descr="Business Growth with solid fill">
              <a:extLst>
                <a:ext uri="{FF2B5EF4-FFF2-40B4-BE49-F238E27FC236}">
                  <a16:creationId xmlns:a16="http://schemas.microsoft.com/office/drawing/2014/main" id="{7FE894CB-1A6C-9E41-8F4B-1D60E8563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7699" y="3127310"/>
              <a:ext cx="914400" cy="9144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08DCA3-9EFA-D632-94EC-D6024C25FBF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724" t="17893" r="3251" b="231"/>
          <a:stretch>
            <a:fillRect/>
          </a:stretch>
        </p:blipFill>
        <p:spPr>
          <a:xfrm>
            <a:off x="634945" y="1855277"/>
            <a:ext cx="3610471" cy="36187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4616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4B371-4C37-FF8B-5F1E-C2466D7CF35A}"/>
              </a:ext>
            </a:extLst>
          </p:cNvPr>
          <p:cNvSpPr/>
          <p:nvPr/>
        </p:nvSpPr>
        <p:spPr>
          <a:xfrm>
            <a:off x="8713694" y="4120154"/>
            <a:ext cx="3426311" cy="17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5C6E6-5B75-7FFB-1908-C512B79D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100" y="547967"/>
            <a:ext cx="5862056" cy="1325563"/>
          </a:xfrm>
        </p:spPr>
        <p:txBody>
          <a:bodyPr>
            <a:normAutofit/>
          </a:bodyPr>
          <a:lstStyle/>
          <a:p>
            <a:r>
              <a:rPr lang="en-US" sz="3300" b="1">
                <a:latin typeface="Biome" panose="020B0503030204020804" pitchFamily="34" charset="0"/>
                <a:cs typeface="Biome" panose="020B0503030204020804" pitchFamily="34" charset="0"/>
              </a:rPr>
              <a:t>DESIGN/FABRICATION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D4945-898A-8EB9-4624-21B1EA02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8665" y="1606538"/>
            <a:ext cx="497932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Plastic sintering</a:t>
            </a:r>
          </a:p>
          <a:p>
            <a:pPr marL="0" indent="0">
              <a:buNone/>
            </a:pPr>
            <a:r>
              <a:rPr lang="en-US" sz="2000" dirty="0"/>
              <a:t>Polymer fused via pressure and heat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15% PVC:85% other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Meets stress requirements</a:t>
            </a:r>
          </a:p>
          <a:p>
            <a:pPr marL="0" indent="0">
              <a:buNone/>
            </a:pPr>
            <a:r>
              <a:rPr lang="en-US" sz="2000" dirty="0"/>
              <a:t>Meets impact resistance requirements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We take their plastic, they pay us</a:t>
            </a:r>
          </a:p>
          <a:p>
            <a:pPr marL="0" indent="0">
              <a:buNone/>
            </a:pPr>
            <a:r>
              <a:rPr lang="en-US" sz="2000" dirty="0"/>
              <a:t>We partner with local Municipal recycling facilities, who source our composite materials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F354C1-11BC-0DC8-0167-4F5467726F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"/>
          <a:stretch>
            <a:fillRect/>
          </a:stretch>
        </p:blipFill>
        <p:spPr>
          <a:xfrm>
            <a:off x="8329318" y="843258"/>
            <a:ext cx="3849197" cy="50933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7D79522-29C1-4893-3662-1BD2D6C2A923}"/>
              </a:ext>
            </a:extLst>
          </p:cNvPr>
          <p:cNvGrpSpPr/>
          <p:nvPr/>
        </p:nvGrpSpPr>
        <p:grpSpPr>
          <a:xfrm>
            <a:off x="-12480417" y="5280243"/>
            <a:ext cx="35817813" cy="2389764"/>
            <a:chOff x="-12480417" y="5280243"/>
            <a:chExt cx="35817813" cy="23897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311A7B-7132-B83B-F214-DE28462196E9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91CBFA4-5FB2-C993-ACB0-0122311A7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F0A1059-95DD-DFF1-D4F5-497547C83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3ED8DF0-1519-0F6F-DA00-A1150EE6A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C664C2D-1087-8B7E-F013-A66F73D28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27744033" y="405149"/>
            <a:ext cx="2387981" cy="121381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6EFF9D-64AE-09BB-CDB8-1D01DF8C37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F4C597-D624-B6E5-638F-1608E5808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87" y="1510604"/>
            <a:ext cx="3384942" cy="42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89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9F98B-7CBB-8AF0-5929-C70A35F9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5CC623-79F5-87BF-8AD5-D529E1492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928E62F-784F-2CB3-CB00-FD940891F9EF}"/>
              </a:ext>
            </a:extLst>
          </p:cNvPr>
          <p:cNvGrpSpPr/>
          <p:nvPr/>
        </p:nvGrpSpPr>
        <p:grpSpPr>
          <a:xfrm>
            <a:off x="-24763857" y="5280243"/>
            <a:ext cx="35817813" cy="2389764"/>
            <a:chOff x="-12480417" y="5280243"/>
            <a:chExt cx="35817813" cy="238976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5F59B3A-3FEB-7FF1-324A-3FA4C1BDBF29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23B5F2F-671B-0588-436C-949BCB5DE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AEBE513-03DE-C848-AE4B-54A60C79A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4DA5EE5-7D90-3F3E-E6E8-C0F7E4A5E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543D901-B4BB-7F08-5C3D-F80810F78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15460593" y="405149"/>
            <a:ext cx="2387981" cy="1213817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CD21E96-C8F3-C250-21CF-7AC7BEE26AEC}"/>
              </a:ext>
            </a:extLst>
          </p:cNvPr>
          <p:cNvGrpSpPr/>
          <p:nvPr/>
        </p:nvGrpSpPr>
        <p:grpSpPr>
          <a:xfrm>
            <a:off x="22234231" y="5282171"/>
            <a:ext cx="35467677" cy="2389764"/>
            <a:chOff x="-12130281" y="5280243"/>
            <a:chExt cx="35467677" cy="23897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99B20B1-00EC-E2A2-7548-47125DAA3D9B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5F47708-841B-A4A2-29F7-9C88673BE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C6DB885-7382-ED80-BB06-C3DCE23D4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D2D872C-E1A7-002A-676C-25BAFFF90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8CABBC-35EA-950C-5EDB-17289D10D9D8}"/>
              </a:ext>
            </a:extLst>
          </p:cNvPr>
          <p:cNvGrpSpPr/>
          <p:nvPr/>
        </p:nvGrpSpPr>
        <p:grpSpPr>
          <a:xfrm>
            <a:off x="2128385" y="1690688"/>
            <a:ext cx="7935230" cy="4079628"/>
            <a:chOff x="2359994" y="2235839"/>
            <a:chExt cx="7336591" cy="363969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B66C1F-BBBC-C502-B1B0-6325C825A71A}"/>
                </a:ext>
              </a:extLst>
            </p:cNvPr>
            <p:cNvGrpSpPr/>
            <p:nvPr/>
          </p:nvGrpSpPr>
          <p:grpSpPr>
            <a:xfrm>
              <a:off x="2359994" y="2235839"/>
              <a:ext cx="7336591" cy="3639698"/>
              <a:chOff x="2359994" y="2235839"/>
              <a:chExt cx="7336591" cy="363969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FFE1433-329A-617E-8189-31FB3B14A5F1}"/>
                  </a:ext>
                </a:extLst>
              </p:cNvPr>
              <p:cNvCxnSpPr/>
              <p:nvPr/>
            </p:nvCxnSpPr>
            <p:spPr>
              <a:xfrm flipV="1">
                <a:off x="5891636" y="2841876"/>
                <a:ext cx="0" cy="686106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585BD0D-A92F-C7DC-62C1-5EB3CE802593}"/>
                  </a:ext>
                </a:extLst>
              </p:cNvPr>
              <p:cNvGrpSpPr/>
              <p:nvPr/>
            </p:nvGrpSpPr>
            <p:grpSpPr>
              <a:xfrm>
                <a:off x="2359994" y="2235839"/>
                <a:ext cx="7336591" cy="3639698"/>
                <a:chOff x="2359994" y="2235839"/>
                <a:chExt cx="7336591" cy="3639698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F2F36BCF-6F37-D1E5-3B60-F3642F72CB5A}"/>
                    </a:ext>
                  </a:extLst>
                </p:cNvPr>
                <p:cNvGrpSpPr/>
                <p:nvPr/>
              </p:nvGrpSpPr>
              <p:grpSpPr>
                <a:xfrm>
                  <a:off x="2359994" y="2235839"/>
                  <a:ext cx="7336591" cy="3639698"/>
                  <a:chOff x="2359994" y="1232985"/>
                  <a:chExt cx="7336591" cy="4646192"/>
                </a:xfrm>
              </p:grpSpPr>
              <p:sp>
                <p:nvSpPr>
                  <p:cNvPr id="5" name="Freeform: Shape 4">
                    <a:extLst>
                      <a:ext uri="{FF2B5EF4-FFF2-40B4-BE49-F238E27FC236}">
                        <a16:creationId xmlns:a16="http://schemas.microsoft.com/office/drawing/2014/main" id="{EE542F66-0121-3EE4-2C5F-A80AE66D09F3}"/>
                      </a:ext>
                    </a:extLst>
                  </p:cNvPr>
                  <p:cNvSpPr/>
                  <p:nvPr/>
                </p:nvSpPr>
                <p:spPr>
                  <a:xfrm>
                    <a:off x="4962285" y="2882448"/>
                    <a:ext cx="1858707" cy="1858707"/>
                  </a:xfrm>
                  <a:custGeom>
                    <a:avLst/>
                    <a:gdLst>
                      <a:gd name="csX0" fmla="*/ 0 w 1858707"/>
                      <a:gd name="csY0" fmla="*/ 309791 h 1858707"/>
                      <a:gd name="csX1" fmla="*/ 309791 w 1858707"/>
                      <a:gd name="csY1" fmla="*/ 0 h 1858707"/>
                      <a:gd name="csX2" fmla="*/ 1548916 w 1858707"/>
                      <a:gd name="csY2" fmla="*/ 0 h 1858707"/>
                      <a:gd name="csX3" fmla="*/ 1858707 w 1858707"/>
                      <a:gd name="csY3" fmla="*/ 309791 h 1858707"/>
                      <a:gd name="csX4" fmla="*/ 1858707 w 1858707"/>
                      <a:gd name="csY4" fmla="*/ 1548916 h 1858707"/>
                      <a:gd name="csX5" fmla="*/ 1548916 w 1858707"/>
                      <a:gd name="csY5" fmla="*/ 1858707 h 1858707"/>
                      <a:gd name="csX6" fmla="*/ 309791 w 1858707"/>
                      <a:gd name="csY6" fmla="*/ 1858707 h 1858707"/>
                      <a:gd name="csX7" fmla="*/ 0 w 1858707"/>
                      <a:gd name="csY7" fmla="*/ 1548916 h 1858707"/>
                      <a:gd name="csX8" fmla="*/ 0 w 1858707"/>
                      <a:gd name="csY8" fmla="*/ 309791 h 18587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858707" h="1858707">
                        <a:moveTo>
                          <a:pt x="0" y="309791"/>
                        </a:moveTo>
                        <a:cubicBezTo>
                          <a:pt x="0" y="138698"/>
                          <a:pt x="138698" y="0"/>
                          <a:pt x="309791" y="0"/>
                        </a:cubicBezTo>
                        <a:lnTo>
                          <a:pt x="1548916" y="0"/>
                        </a:lnTo>
                        <a:cubicBezTo>
                          <a:pt x="1720009" y="0"/>
                          <a:pt x="1858707" y="138698"/>
                          <a:pt x="1858707" y="309791"/>
                        </a:cubicBezTo>
                        <a:lnTo>
                          <a:pt x="1858707" y="1548916"/>
                        </a:lnTo>
                        <a:cubicBezTo>
                          <a:pt x="1858707" y="1720009"/>
                          <a:pt x="1720009" y="1858707"/>
                          <a:pt x="1548916" y="1858707"/>
                        </a:cubicBezTo>
                        <a:lnTo>
                          <a:pt x="309791" y="1858707"/>
                        </a:lnTo>
                        <a:cubicBezTo>
                          <a:pt x="138698" y="1858707"/>
                          <a:pt x="0" y="1720009"/>
                          <a:pt x="0" y="1548916"/>
                        </a:cubicBezTo>
                        <a:lnTo>
                          <a:pt x="0" y="309791"/>
                        </a:lnTo>
                        <a:close/>
                      </a:path>
                    </a:pathLst>
                  </a:custGeom>
                  <a:noFill/>
                  <a:ln w="38100"/>
                </p:spPr>
                <p:style>
                  <a:lnRef idx="2">
                    <a:schemeClr val="accent3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74555" tIns="174555" rIns="174555" bIns="174555" numCol="1" spcCol="1270" anchor="ctr" anchorCtr="0">
                    <a:noAutofit/>
                  </a:bodyPr>
                  <a:lstStyle/>
                  <a:p>
                    <a:pPr marL="0" lvl="0" indent="0" algn="ctr" defTabSz="1466850" rtl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sz="2200" b="1" kern="1200">
                        <a:latin typeface="Calibri"/>
                        <a:ea typeface="Calibri"/>
                        <a:cs typeface="Calibri"/>
                      </a:rPr>
                      <a:t>400-450 million </a:t>
                    </a:r>
                    <a:r>
                      <a:rPr lang="en-US" sz="2200" kern="1200">
                        <a:latin typeface="Calibri"/>
                        <a:ea typeface="Calibri"/>
                        <a:cs typeface="Calibri"/>
                      </a:rPr>
                      <a:t>wood ties </a:t>
                    </a:r>
                    <a:r>
                      <a:rPr lang="en-US" sz="2200">
                        <a:latin typeface="Calibri"/>
                        <a:ea typeface="Calibri"/>
                        <a:cs typeface="Calibri"/>
                      </a:rPr>
                      <a:t>in the US</a:t>
                    </a:r>
                    <a:endParaRPr lang="en-US" sz="2200" kern="1200"/>
                  </a:p>
                </p:txBody>
              </p:sp>
              <p:sp>
                <p:nvSpPr>
                  <p:cNvPr id="7" name="Freeform: Shape 6">
                    <a:extLst>
                      <a:ext uri="{FF2B5EF4-FFF2-40B4-BE49-F238E27FC236}">
                        <a16:creationId xmlns:a16="http://schemas.microsoft.com/office/drawing/2014/main" id="{27623CD2-913B-4017-7FEB-811967E205ED}"/>
                      </a:ext>
                    </a:extLst>
                  </p:cNvPr>
                  <p:cNvSpPr/>
                  <p:nvPr/>
                </p:nvSpPr>
                <p:spPr>
                  <a:xfrm>
                    <a:off x="4736774" y="1232985"/>
                    <a:ext cx="2309725" cy="617990"/>
                  </a:xfrm>
                  <a:custGeom>
                    <a:avLst/>
                    <a:gdLst>
                      <a:gd name="csX0" fmla="*/ 0 w 1245334"/>
                      <a:gd name="csY0" fmla="*/ 207560 h 1245334"/>
                      <a:gd name="csX1" fmla="*/ 207560 w 1245334"/>
                      <a:gd name="csY1" fmla="*/ 0 h 1245334"/>
                      <a:gd name="csX2" fmla="*/ 1037774 w 1245334"/>
                      <a:gd name="csY2" fmla="*/ 0 h 1245334"/>
                      <a:gd name="csX3" fmla="*/ 1245334 w 1245334"/>
                      <a:gd name="csY3" fmla="*/ 207560 h 1245334"/>
                      <a:gd name="csX4" fmla="*/ 1245334 w 1245334"/>
                      <a:gd name="csY4" fmla="*/ 1037774 h 1245334"/>
                      <a:gd name="csX5" fmla="*/ 1037774 w 1245334"/>
                      <a:gd name="csY5" fmla="*/ 1245334 h 1245334"/>
                      <a:gd name="csX6" fmla="*/ 207560 w 1245334"/>
                      <a:gd name="csY6" fmla="*/ 1245334 h 1245334"/>
                      <a:gd name="csX7" fmla="*/ 0 w 1245334"/>
                      <a:gd name="csY7" fmla="*/ 1037774 h 1245334"/>
                      <a:gd name="csX8" fmla="*/ 0 w 1245334"/>
                      <a:gd name="csY8" fmla="*/ 207560 h 12453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245334" h="1245334">
                        <a:moveTo>
                          <a:pt x="0" y="207560"/>
                        </a:moveTo>
                        <a:cubicBezTo>
                          <a:pt x="0" y="92928"/>
                          <a:pt x="92928" y="0"/>
                          <a:pt x="207560" y="0"/>
                        </a:cubicBezTo>
                        <a:lnTo>
                          <a:pt x="1037774" y="0"/>
                        </a:lnTo>
                        <a:cubicBezTo>
                          <a:pt x="1152406" y="0"/>
                          <a:pt x="1245334" y="92928"/>
                          <a:pt x="1245334" y="207560"/>
                        </a:cubicBezTo>
                        <a:lnTo>
                          <a:pt x="1245334" y="1037774"/>
                        </a:lnTo>
                        <a:cubicBezTo>
                          <a:pt x="1245334" y="1152406"/>
                          <a:pt x="1152406" y="1245334"/>
                          <a:pt x="1037774" y="1245334"/>
                        </a:cubicBezTo>
                        <a:lnTo>
                          <a:pt x="207560" y="1245334"/>
                        </a:lnTo>
                        <a:cubicBezTo>
                          <a:pt x="92928" y="1245334"/>
                          <a:pt x="0" y="1152406"/>
                          <a:pt x="0" y="1037774"/>
                        </a:cubicBezTo>
                        <a:lnTo>
                          <a:pt x="0" y="20756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</p:spPr>
                <p:style>
                  <a:lnRef idx="2">
                    <a:schemeClr val="accent3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09052" tIns="109052" rIns="109052" bIns="109052" numCol="1" spcCol="1270" anchor="ctr" anchorCtr="0">
                    <a:noAutofit/>
                  </a:bodyPr>
                  <a:lstStyle/>
                  <a:p>
                    <a:pPr algn="ctr" defTabSz="8445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n-US" sz="1900" b="1">
                        <a:latin typeface="Aptos"/>
                      </a:rPr>
                      <a:t>20 million </a:t>
                    </a:r>
                    <a:r>
                      <a:rPr lang="en-US" sz="1900">
                        <a:latin typeface="Aptos"/>
                      </a:rPr>
                      <a:t>ties replaced a year</a:t>
                    </a:r>
                  </a:p>
                </p:txBody>
              </p:sp>
              <p:sp>
                <p:nvSpPr>
                  <p:cNvPr id="9" name="Freeform: Shape 8">
                    <a:extLst>
                      <a:ext uri="{FF2B5EF4-FFF2-40B4-BE49-F238E27FC236}">
                        <a16:creationId xmlns:a16="http://schemas.microsoft.com/office/drawing/2014/main" id="{1AF46189-D76F-9C61-47B7-51A50D14E73D}"/>
                      </a:ext>
                    </a:extLst>
                  </p:cNvPr>
                  <p:cNvSpPr/>
                  <p:nvPr/>
                </p:nvSpPr>
                <p:spPr>
                  <a:xfrm>
                    <a:off x="7676406" y="4633843"/>
                    <a:ext cx="2020179" cy="1245334"/>
                  </a:xfrm>
                  <a:custGeom>
                    <a:avLst/>
                    <a:gdLst>
                      <a:gd name="csX0" fmla="*/ 0 w 1245334"/>
                      <a:gd name="csY0" fmla="*/ 207560 h 1245334"/>
                      <a:gd name="csX1" fmla="*/ 207560 w 1245334"/>
                      <a:gd name="csY1" fmla="*/ 0 h 1245334"/>
                      <a:gd name="csX2" fmla="*/ 1037774 w 1245334"/>
                      <a:gd name="csY2" fmla="*/ 0 h 1245334"/>
                      <a:gd name="csX3" fmla="*/ 1245334 w 1245334"/>
                      <a:gd name="csY3" fmla="*/ 207560 h 1245334"/>
                      <a:gd name="csX4" fmla="*/ 1245334 w 1245334"/>
                      <a:gd name="csY4" fmla="*/ 1037774 h 1245334"/>
                      <a:gd name="csX5" fmla="*/ 1037774 w 1245334"/>
                      <a:gd name="csY5" fmla="*/ 1245334 h 1245334"/>
                      <a:gd name="csX6" fmla="*/ 207560 w 1245334"/>
                      <a:gd name="csY6" fmla="*/ 1245334 h 1245334"/>
                      <a:gd name="csX7" fmla="*/ 0 w 1245334"/>
                      <a:gd name="csY7" fmla="*/ 1037774 h 1245334"/>
                      <a:gd name="csX8" fmla="*/ 0 w 1245334"/>
                      <a:gd name="csY8" fmla="*/ 207560 h 12453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245334" h="1245334">
                        <a:moveTo>
                          <a:pt x="0" y="207560"/>
                        </a:moveTo>
                        <a:cubicBezTo>
                          <a:pt x="0" y="92928"/>
                          <a:pt x="92928" y="0"/>
                          <a:pt x="207560" y="0"/>
                        </a:cubicBezTo>
                        <a:lnTo>
                          <a:pt x="1037774" y="0"/>
                        </a:lnTo>
                        <a:cubicBezTo>
                          <a:pt x="1152406" y="0"/>
                          <a:pt x="1245334" y="92928"/>
                          <a:pt x="1245334" y="207560"/>
                        </a:cubicBezTo>
                        <a:lnTo>
                          <a:pt x="1245334" y="1037774"/>
                        </a:lnTo>
                        <a:cubicBezTo>
                          <a:pt x="1245334" y="1152406"/>
                          <a:pt x="1152406" y="1245334"/>
                          <a:pt x="1037774" y="1245334"/>
                        </a:cubicBezTo>
                        <a:lnTo>
                          <a:pt x="207560" y="1245334"/>
                        </a:lnTo>
                        <a:cubicBezTo>
                          <a:pt x="92928" y="1245334"/>
                          <a:pt x="0" y="1152406"/>
                          <a:pt x="0" y="1037774"/>
                        </a:cubicBezTo>
                        <a:lnTo>
                          <a:pt x="0" y="20756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</p:spPr>
                <p:style>
                  <a:lnRef idx="2">
                    <a:schemeClr val="accent3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09052" tIns="109052" rIns="109052" bIns="109052" numCol="1" spcCol="1270" anchor="ctr" anchorCtr="0">
                    <a:noAutofit/>
                  </a:bodyPr>
                  <a:lstStyle/>
                  <a:p>
                    <a:pPr algn="ctr" defTabSz="8445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n-US" sz="1900" b="1">
                        <a:latin typeface="Aptos"/>
                      </a:rPr>
                      <a:t>80-90%</a:t>
                    </a:r>
                    <a:r>
                      <a:rPr lang="en-US" sz="1900">
                        <a:latin typeface="Aptos"/>
                      </a:rPr>
                      <a:t> of ties full of Creosotes</a:t>
                    </a:r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851FD72F-3D06-B4C6-FEEE-97CA958FD3CB}"/>
                      </a:ext>
                    </a:extLst>
                  </p:cNvPr>
                  <p:cNvSpPr/>
                  <p:nvPr/>
                </p:nvSpPr>
                <p:spPr>
                  <a:xfrm>
                    <a:off x="2359994" y="4617049"/>
                    <a:ext cx="1858707" cy="1245334"/>
                  </a:xfrm>
                  <a:custGeom>
                    <a:avLst/>
                    <a:gdLst>
                      <a:gd name="csX0" fmla="*/ 0 w 1245334"/>
                      <a:gd name="csY0" fmla="*/ 207560 h 1245334"/>
                      <a:gd name="csX1" fmla="*/ 207560 w 1245334"/>
                      <a:gd name="csY1" fmla="*/ 0 h 1245334"/>
                      <a:gd name="csX2" fmla="*/ 1037774 w 1245334"/>
                      <a:gd name="csY2" fmla="*/ 0 h 1245334"/>
                      <a:gd name="csX3" fmla="*/ 1245334 w 1245334"/>
                      <a:gd name="csY3" fmla="*/ 207560 h 1245334"/>
                      <a:gd name="csX4" fmla="*/ 1245334 w 1245334"/>
                      <a:gd name="csY4" fmla="*/ 1037774 h 1245334"/>
                      <a:gd name="csX5" fmla="*/ 1037774 w 1245334"/>
                      <a:gd name="csY5" fmla="*/ 1245334 h 1245334"/>
                      <a:gd name="csX6" fmla="*/ 207560 w 1245334"/>
                      <a:gd name="csY6" fmla="*/ 1245334 h 1245334"/>
                      <a:gd name="csX7" fmla="*/ 0 w 1245334"/>
                      <a:gd name="csY7" fmla="*/ 1037774 h 1245334"/>
                      <a:gd name="csX8" fmla="*/ 0 w 1245334"/>
                      <a:gd name="csY8" fmla="*/ 207560 h 12453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245334" h="1245334">
                        <a:moveTo>
                          <a:pt x="0" y="207560"/>
                        </a:moveTo>
                        <a:cubicBezTo>
                          <a:pt x="0" y="92928"/>
                          <a:pt x="92928" y="0"/>
                          <a:pt x="207560" y="0"/>
                        </a:cubicBezTo>
                        <a:lnTo>
                          <a:pt x="1037774" y="0"/>
                        </a:lnTo>
                        <a:cubicBezTo>
                          <a:pt x="1152406" y="0"/>
                          <a:pt x="1245334" y="92928"/>
                          <a:pt x="1245334" y="207560"/>
                        </a:cubicBezTo>
                        <a:lnTo>
                          <a:pt x="1245334" y="1037774"/>
                        </a:lnTo>
                        <a:cubicBezTo>
                          <a:pt x="1245334" y="1152406"/>
                          <a:pt x="1152406" y="1245334"/>
                          <a:pt x="1037774" y="1245334"/>
                        </a:cubicBezTo>
                        <a:lnTo>
                          <a:pt x="207560" y="1245334"/>
                        </a:lnTo>
                        <a:cubicBezTo>
                          <a:pt x="92928" y="1245334"/>
                          <a:pt x="0" y="1152406"/>
                          <a:pt x="0" y="1037774"/>
                        </a:cubicBezTo>
                        <a:lnTo>
                          <a:pt x="0" y="20756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</p:spPr>
                <p:style>
                  <a:lnRef idx="2">
                    <a:schemeClr val="accent3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09052" tIns="109052" rIns="109052" bIns="109052" numCol="1" spcCol="1270" anchor="ctr" anchorCtr="0">
                    <a:noAutofit/>
                  </a:bodyPr>
                  <a:lstStyle/>
                  <a:p>
                    <a:pPr marL="0" lvl="0" indent="0" algn="ctr" defTabSz="844550" rtl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sz="1900">
                        <a:latin typeface="Aptos"/>
                      </a:rPr>
                      <a:t>Ties r</a:t>
                    </a:r>
                    <a:r>
                      <a:rPr lang="en-US" sz="1900" kern="1200">
                        <a:latin typeface="Aptos"/>
                      </a:rPr>
                      <a:t>eplaced </a:t>
                    </a:r>
                    <a:r>
                      <a:rPr lang="en-US" sz="1900" b="1" kern="1200">
                        <a:latin typeface="Aptos"/>
                      </a:rPr>
                      <a:t>every 10</a:t>
                    </a:r>
                    <a:r>
                      <a:rPr lang="en-US" sz="1900" kern="1200">
                        <a:latin typeface="Aptos"/>
                      </a:rPr>
                      <a:t> years</a:t>
                    </a:r>
                  </a:p>
                </p:txBody>
              </p:sp>
            </p:grp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6A2CC5A-9E07-8554-E381-450F932104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749456" y="4886821"/>
                  <a:ext cx="894665" cy="393422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24BA086-C03E-E5E5-93F3-1549096D39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187" y="4862282"/>
              <a:ext cx="785025" cy="36098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4AF514E-B0E0-E9EC-A3A8-BDCB59A34421}"/>
              </a:ext>
            </a:extLst>
          </p:cNvPr>
          <p:cNvSpPr/>
          <p:nvPr/>
        </p:nvSpPr>
        <p:spPr>
          <a:xfrm>
            <a:off x="4943010" y="3139012"/>
            <a:ext cx="2010371" cy="1632053"/>
          </a:xfrm>
          <a:custGeom>
            <a:avLst/>
            <a:gdLst>
              <a:gd name="csX0" fmla="*/ 0 w 1858707"/>
              <a:gd name="csY0" fmla="*/ 309791 h 1858707"/>
              <a:gd name="csX1" fmla="*/ 309791 w 1858707"/>
              <a:gd name="csY1" fmla="*/ 0 h 1858707"/>
              <a:gd name="csX2" fmla="*/ 1548916 w 1858707"/>
              <a:gd name="csY2" fmla="*/ 0 h 1858707"/>
              <a:gd name="csX3" fmla="*/ 1858707 w 1858707"/>
              <a:gd name="csY3" fmla="*/ 309791 h 1858707"/>
              <a:gd name="csX4" fmla="*/ 1858707 w 1858707"/>
              <a:gd name="csY4" fmla="*/ 1548916 h 1858707"/>
              <a:gd name="csX5" fmla="*/ 1548916 w 1858707"/>
              <a:gd name="csY5" fmla="*/ 1858707 h 1858707"/>
              <a:gd name="csX6" fmla="*/ 309791 w 1858707"/>
              <a:gd name="csY6" fmla="*/ 1858707 h 1858707"/>
              <a:gd name="csX7" fmla="*/ 0 w 1858707"/>
              <a:gd name="csY7" fmla="*/ 1548916 h 1858707"/>
              <a:gd name="csX8" fmla="*/ 0 w 1858707"/>
              <a:gd name="csY8" fmla="*/ 309791 h 18587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8707" h="1858707">
                <a:moveTo>
                  <a:pt x="0" y="309791"/>
                </a:moveTo>
                <a:cubicBezTo>
                  <a:pt x="0" y="138698"/>
                  <a:pt x="138698" y="0"/>
                  <a:pt x="309791" y="0"/>
                </a:cubicBezTo>
                <a:lnTo>
                  <a:pt x="1548916" y="0"/>
                </a:lnTo>
                <a:cubicBezTo>
                  <a:pt x="1720009" y="0"/>
                  <a:pt x="1858707" y="138698"/>
                  <a:pt x="1858707" y="309791"/>
                </a:cubicBezTo>
                <a:lnTo>
                  <a:pt x="1858707" y="1548916"/>
                </a:lnTo>
                <a:cubicBezTo>
                  <a:pt x="1858707" y="1720009"/>
                  <a:pt x="1720009" y="1858707"/>
                  <a:pt x="1548916" y="1858707"/>
                </a:cubicBezTo>
                <a:lnTo>
                  <a:pt x="309791" y="1858707"/>
                </a:lnTo>
                <a:cubicBezTo>
                  <a:pt x="138698" y="1858707"/>
                  <a:pt x="0" y="1720009"/>
                  <a:pt x="0" y="1548916"/>
                </a:cubicBezTo>
                <a:lnTo>
                  <a:pt x="0" y="309791"/>
                </a:lnTo>
                <a:close/>
              </a:path>
            </a:pathLst>
          </a:custGeom>
          <a:solidFill>
            <a:srgbClr val="43A202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4555" tIns="174555" rIns="174555" bIns="174555" numCol="1" spcCol="1270" anchor="ctr" anchorCtr="0">
            <a:noAutofit/>
          </a:bodyPr>
          <a:lstStyle/>
          <a:p>
            <a:pPr lvl="0" algn="ctr"/>
            <a:r>
              <a:rPr lang="en-US" sz="1700" b="1">
                <a:solidFill>
                  <a:schemeClr val="bg1"/>
                </a:solidFill>
              </a:rPr>
              <a:t>Idea: </a:t>
            </a:r>
          </a:p>
          <a:p>
            <a:pPr lvl="0" algn="ctr"/>
            <a:r>
              <a:rPr lang="en-US" sz="1700">
                <a:solidFill>
                  <a:schemeClr val="bg1"/>
                </a:solidFill>
                <a:latin typeface="Aptos Display" panose="020F0302020204030204"/>
              </a:rPr>
              <a:t>Replace</a:t>
            </a:r>
            <a:r>
              <a:rPr lang="en-US" sz="1700">
                <a:solidFill>
                  <a:schemeClr val="bg1"/>
                </a:solidFill>
              </a:rPr>
              <a:t> wood ties with composite during maintenance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5EAF02-804E-C23F-524E-04C81ED0D50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4072217" cy="1347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Biome" panose="020B0503030204020804" pitchFamily="34" charset="0"/>
                <a:cs typeface="Biome" panose="020B0503030204020804" pitchFamily="34" charset="0"/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3620258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87E9F-62BF-7373-AEDD-017B93B0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D5C5-07A3-4FC3-B735-0A018A2E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84" y="866185"/>
            <a:ext cx="6217082" cy="1325563"/>
          </a:xfrm>
        </p:spPr>
        <p:txBody>
          <a:bodyPr/>
          <a:lstStyle/>
          <a:p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Target audience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A6A30-0DA4-8193-B9C0-57D9D118E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50" y="2038287"/>
            <a:ext cx="6426758" cy="30534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cs typeface="Arial"/>
              </a:rPr>
              <a:t>Railway Contractors &amp; Infrastructure Companies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cs typeface="Arial"/>
              </a:rPr>
              <a:t>3rd Party Logistics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cs typeface="Arial"/>
              </a:rPr>
              <a:t>Government &amp; Municipal Agencies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DFA96-369E-DDBD-8FED-6B488FB283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31979FD-7851-FF95-CC78-10B3A0373D0F}"/>
              </a:ext>
            </a:extLst>
          </p:cNvPr>
          <p:cNvGrpSpPr/>
          <p:nvPr/>
        </p:nvGrpSpPr>
        <p:grpSpPr>
          <a:xfrm>
            <a:off x="-24763857" y="5280243"/>
            <a:ext cx="35817813" cy="2389764"/>
            <a:chOff x="-12480417" y="5280243"/>
            <a:chExt cx="35817813" cy="238976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C9932E-3623-9D9A-36D5-3C415A053637}"/>
                </a:ext>
              </a:extLst>
            </p:cNvPr>
            <p:cNvGrpSpPr/>
            <p:nvPr/>
          </p:nvGrpSpPr>
          <p:grpSpPr>
            <a:xfrm>
              <a:off x="-12480417" y="5280243"/>
              <a:ext cx="24160166" cy="2387981"/>
              <a:chOff x="-269110" y="5280243"/>
              <a:chExt cx="24160166" cy="2387981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F463190-6AB4-D9C2-4C2C-E76D7F999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r="39391"/>
              <a:stretch>
                <a:fillRect/>
              </a:stretch>
            </p:blipFill>
            <p:spPr>
              <a:xfrm rot="16200000">
                <a:off x="4781052" y="230081"/>
                <a:ext cx="2387981" cy="12488306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0BCEC577-2493-6761-33E0-1A91B6C19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C8DE7F6-67A8-0EBB-312C-1E8625617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E7E4278-B324-FBB7-51FF-541FAF7C1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15460593" y="405149"/>
            <a:ext cx="2387981" cy="1213817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BFD2B1F-D1B0-56C7-0F34-338E6EE13239}"/>
              </a:ext>
            </a:extLst>
          </p:cNvPr>
          <p:cNvGrpSpPr/>
          <p:nvPr/>
        </p:nvGrpSpPr>
        <p:grpSpPr>
          <a:xfrm>
            <a:off x="22234231" y="5282171"/>
            <a:ext cx="35467677" cy="2389764"/>
            <a:chOff x="-12130281" y="5280243"/>
            <a:chExt cx="35467677" cy="23897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5A05B0A-7A0F-957E-1ABB-54B91CE8EC5D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ECA03195-825C-669E-51F8-ECB75351E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2081A96-B8A3-849D-C5DB-296A82FF0D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6CC68F4-C116-2BF3-07F4-3E2149D9B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7" name="Picture 10" descr="Road &amp; Rail Services » Trusted Leader in Rail-Driven Logistics">
            <a:extLst>
              <a:ext uri="{FF2B5EF4-FFF2-40B4-BE49-F238E27FC236}">
                <a16:creationId xmlns:a16="http://schemas.microsoft.com/office/drawing/2014/main" id="{778A9FCC-C29F-1051-1A7C-A2F47DBA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953" y="1498124"/>
            <a:ext cx="2570403" cy="83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Road &amp; Rail Services » Trusted Leader in Rail-Driven Logistics">
            <a:extLst>
              <a:ext uri="{FF2B5EF4-FFF2-40B4-BE49-F238E27FC236}">
                <a16:creationId xmlns:a16="http://schemas.microsoft.com/office/drawing/2014/main" id="{65A1B65C-3FF5-F253-68D3-118200F6FD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5953" y="4136105"/>
            <a:ext cx="2743198" cy="7113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6C3D93-C16D-976F-164C-30DBBD062A6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0" b="23971"/>
          <a:stretch>
            <a:fillRect/>
          </a:stretch>
        </p:blipFill>
        <p:spPr>
          <a:xfrm>
            <a:off x="7262492" y="1852486"/>
            <a:ext cx="1668352" cy="1415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336B71-42C5-1FAD-696C-4A7E0A9D8EF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34" b="35931"/>
          <a:stretch>
            <a:fillRect/>
          </a:stretch>
        </p:blipFill>
        <p:spPr>
          <a:xfrm>
            <a:off x="9085953" y="2801955"/>
            <a:ext cx="2743198" cy="1005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1620FD-E409-1709-3D3B-C75D21BC6AE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49" y="3371051"/>
            <a:ext cx="1278637" cy="159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78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55BB-0EDC-3919-F0CC-75DE3503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1997-8D67-EEFA-475C-29B42BE6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72217" cy="1347974"/>
          </a:xfrm>
        </p:spPr>
        <p:txBody>
          <a:bodyPr/>
          <a:lstStyle/>
          <a:p>
            <a:r>
              <a:rPr lang="en-US">
                <a:latin typeface="Biome" panose="020B0503030204020804" pitchFamily="34" charset="0"/>
                <a:cs typeface="Biome" panose="020B0503030204020804" pitchFamily="34" charset="0"/>
              </a:rPr>
              <a:t>Why us?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D850A-D96D-EB97-AD63-A6D824793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F47CC9-BD66-D33F-460A-56D288A3F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-8334019" y="405149"/>
            <a:ext cx="2387981" cy="1213817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7E6786C-762D-8356-BE41-1ABE0A535D08}"/>
              </a:ext>
            </a:extLst>
          </p:cNvPr>
          <p:cNvGrpSpPr/>
          <p:nvPr/>
        </p:nvGrpSpPr>
        <p:grpSpPr>
          <a:xfrm>
            <a:off x="-1537225" y="5282171"/>
            <a:ext cx="35467677" cy="2389764"/>
            <a:chOff x="-12130281" y="5280243"/>
            <a:chExt cx="35467677" cy="238976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B90586-96E1-4D82-EA99-735585179779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E8EFC4-0A16-F7C8-8CEA-EAA1DDDC8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1AB7534-A32D-3806-A78D-5FC359A6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9A884A-C1BC-5FE3-7D32-22713748A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D0F537-8D11-E1C2-31D8-AF47DBE91393}"/>
              </a:ext>
            </a:extLst>
          </p:cNvPr>
          <p:cNvSpPr txBox="1"/>
          <p:nvPr/>
        </p:nvSpPr>
        <p:spPr>
          <a:xfrm>
            <a:off x="8322058" y="3426153"/>
            <a:ext cx="267418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</a:rPr>
              <a:t>Marketing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554F9-3D2B-4DB9-0FFF-C2A2B4DFAB43}"/>
              </a:ext>
            </a:extLst>
          </p:cNvPr>
          <p:cNvSpPr txBox="1"/>
          <p:nvPr/>
        </p:nvSpPr>
        <p:spPr>
          <a:xfrm>
            <a:off x="8170890" y="4421099"/>
            <a:ext cx="328596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>
                <a:latin typeface="Aptos"/>
                <a:ea typeface="Arial"/>
                <a:cs typeface="Arial"/>
              </a:rPr>
              <a:t>Industry Conferences​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400" baseline="0">
                <a:latin typeface="Aptos"/>
                <a:ea typeface="Arial"/>
                <a:cs typeface="Arial"/>
              </a:rPr>
              <a:t>Social media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400" baseline="0">
                <a:latin typeface="Aptos"/>
                <a:ea typeface="Arial"/>
                <a:cs typeface="Arial"/>
              </a:rPr>
              <a:t>Sales Team</a:t>
            </a:r>
          </a:p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29884EF-B19D-7C89-BB8D-F2E439E3E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572602"/>
              </p:ext>
            </p:extLst>
          </p:nvPr>
        </p:nvGraphicFramePr>
        <p:xfrm>
          <a:off x="735148" y="2168133"/>
          <a:ext cx="6026427" cy="230907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5510">
                  <a:extLst>
                    <a:ext uri="{9D8B030D-6E8A-4147-A177-3AD203B41FA5}">
                      <a16:colId xmlns:a16="http://schemas.microsoft.com/office/drawing/2014/main" val="1168776339"/>
                    </a:ext>
                  </a:extLst>
                </a:gridCol>
                <a:gridCol w="1704444">
                  <a:extLst>
                    <a:ext uri="{9D8B030D-6E8A-4147-A177-3AD203B41FA5}">
                      <a16:colId xmlns:a16="http://schemas.microsoft.com/office/drawing/2014/main" val="3739852838"/>
                    </a:ext>
                  </a:extLst>
                </a:gridCol>
                <a:gridCol w="2396473">
                  <a:extLst>
                    <a:ext uri="{9D8B030D-6E8A-4147-A177-3AD203B41FA5}">
                      <a16:colId xmlns:a16="http://schemas.microsoft.com/office/drawing/2014/main" val="1358271715"/>
                    </a:ext>
                  </a:extLst>
                </a:gridCol>
              </a:tblGrid>
              <a:tr h="374882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 Wood 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 1 PolyRail Titan 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70786"/>
                  </a:ext>
                </a:extLst>
              </a:tr>
              <a:tr h="647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$45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393947"/>
                  </a:ext>
                </a:extLst>
              </a:tr>
              <a:tr h="647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Replacement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Years</a:t>
                      </a:r>
                    </a:p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50+ years </a:t>
                      </a:r>
                    </a:p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250030"/>
                  </a:ext>
                </a:extLst>
              </a:tr>
              <a:tr h="3748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Cost over 50 years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$250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$45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386786"/>
                  </a:ext>
                </a:extLst>
              </a:tr>
            </a:tbl>
          </a:graphicData>
        </a:graphic>
      </p:graphicFrame>
      <p:pic>
        <p:nvPicPr>
          <p:cNvPr id="2050" name="Picture 2" descr="Central &amp; Pacific Region Meeting - ASLRRA">
            <a:extLst>
              <a:ext uri="{FF2B5EF4-FFF2-40B4-BE49-F238E27FC236}">
                <a16:creationId xmlns:a16="http://schemas.microsoft.com/office/drawing/2014/main" id="{B8DEF12E-9E77-C7FF-D7A6-333E2E867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104" y="1415452"/>
            <a:ext cx="2008918" cy="200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024 RRC Regulatory Conference">
            <a:extLst>
              <a:ext uri="{FF2B5EF4-FFF2-40B4-BE49-F238E27FC236}">
                <a16:creationId xmlns:a16="http://schemas.microsoft.com/office/drawing/2014/main" id="{76F8F719-F8C0-0F2F-C3E8-5B5CA39D0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8" r="15040"/>
          <a:stretch>
            <a:fillRect/>
          </a:stretch>
        </p:blipFill>
        <p:spPr bwMode="auto">
          <a:xfrm>
            <a:off x="7419799" y="1617402"/>
            <a:ext cx="1804517" cy="150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857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37B0-432D-5892-BF03-65A3E1F6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3B0126-9768-C6C3-7037-0DDD7E3B9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E2EA48C-9860-1E74-C171-24C8C80D72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8699363"/>
              </p:ext>
            </p:extLst>
          </p:nvPr>
        </p:nvGraphicFramePr>
        <p:xfrm>
          <a:off x="1" y="538274"/>
          <a:ext cx="11937075" cy="5761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D9FDDEB-8AA8-E315-C0D0-73BD70F1D99F}"/>
              </a:ext>
            </a:extLst>
          </p:cNvPr>
          <p:cNvGrpSpPr/>
          <p:nvPr/>
        </p:nvGrpSpPr>
        <p:grpSpPr>
          <a:xfrm>
            <a:off x="-13771679" y="5282171"/>
            <a:ext cx="35467677" cy="2389764"/>
            <a:chOff x="-12130281" y="5280243"/>
            <a:chExt cx="35467677" cy="23897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B97B972-00D1-F333-A8A6-131C2209E81F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36E5DF5-5D2E-1D5B-D7E1-F8B4391DDA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56820B-E2F5-1B68-658B-D34A33953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1133095-82E3-25EE-F751-F69F58189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CA63D51-BC15-B340-C258-2D84492671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26104231" y="410887"/>
            <a:ext cx="2387981" cy="1213817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05C2168-C5C0-CF64-0190-5091AF64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4" y="68399"/>
            <a:ext cx="4072217" cy="1347974"/>
          </a:xfrm>
        </p:spPr>
        <p:txBody>
          <a:bodyPr/>
          <a:lstStyle/>
          <a:p>
            <a:r>
              <a:rPr lang="en-US">
                <a:latin typeface="Biome" panose="020B0503030204020804" pitchFamily="34" charset="0"/>
                <a:cs typeface="Biome" panose="020B0503030204020804" pitchFamily="34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661740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92EE-A5AD-23D4-04D2-8631F7C5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183438"/>
            <a:ext cx="10515600" cy="906050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1D1D1D"/>
                </a:solidFill>
                <a:latin typeface="Biome" panose="020B0503030204020804" pitchFamily="34" charset="0"/>
                <a:ea typeface="+mj-lt"/>
                <a:cs typeface="Biome" panose="020B0503030204020804" pitchFamily="34" charset="0"/>
              </a:rPr>
              <a:t>Projections</a:t>
            </a:r>
            <a:endParaRPr lang="en-US">
              <a:solidFill>
                <a:srgbClr val="000000"/>
              </a:solidFill>
              <a:latin typeface="Biome" panose="020B0503030204020804" pitchFamily="34" charset="0"/>
              <a:ea typeface="+mj-lt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57EA1-D228-390B-5D20-5CB3B16A3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69" y="1083849"/>
            <a:ext cx="4893907" cy="418027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cs typeface="Biome" panose="020B0503030204020804" pitchFamily="34" charset="0"/>
              </a:rPr>
              <a:t>Costs</a:t>
            </a:r>
          </a:p>
          <a:p>
            <a:pPr marL="0" indent="0">
              <a:buNone/>
            </a:pPr>
            <a:r>
              <a:rPr lang="en-US" sz="2000" dirty="0">
                <a:cs typeface="Biome" panose="020B0503030204020804" pitchFamily="34" charset="0"/>
              </a:rPr>
              <a:t>Raw Materials, Logistics, Labor, </a:t>
            </a:r>
            <a:r>
              <a:rPr lang="en-US" sz="2000" dirty="0">
                <a:ea typeface="+mn-lt"/>
                <a:cs typeface="Biome" panose="020B0503030204020804" pitchFamily="34" charset="0"/>
              </a:rPr>
              <a:t>Operations</a:t>
            </a:r>
            <a:r>
              <a:rPr lang="en-US" sz="2000" dirty="0">
                <a:cs typeface="Biome" panose="020B0503030204020804" pitchFamily="34" charset="0"/>
              </a:rPr>
              <a:t>, </a:t>
            </a:r>
            <a:r>
              <a:rPr lang="en-US" sz="2000" dirty="0">
                <a:ea typeface="+mn-lt"/>
                <a:cs typeface="Biome" panose="020B0503030204020804" pitchFamily="34" charset="0"/>
              </a:rPr>
              <a:t>Legal/Insurance</a:t>
            </a:r>
          </a:p>
          <a:p>
            <a:pPr marL="0" indent="0">
              <a:buNone/>
            </a:pPr>
            <a:endParaRPr lang="en-US" sz="2000" b="1" dirty="0">
              <a:ea typeface="+mn-lt"/>
              <a:cs typeface="Biome" panose="020B05030302040208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ea typeface="+mn-lt"/>
                <a:cs typeface="Biome" panose="020B0503030204020804" pitchFamily="34" charset="0"/>
              </a:rPr>
              <a:t>Revenue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Biome" panose="020B0503030204020804" pitchFamily="34" charset="0"/>
              </a:rPr>
              <a:t>Selling ties, plastic buyback program</a:t>
            </a:r>
          </a:p>
          <a:p>
            <a:pPr marL="0" indent="0">
              <a:buNone/>
            </a:pPr>
            <a:endParaRPr lang="en-US" sz="2000" b="1" dirty="0">
              <a:ea typeface="+mn-lt"/>
              <a:cs typeface="Biome" panose="020B05030302040208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ea typeface="+mn-lt"/>
                <a:cs typeface="Biome" panose="020B0503030204020804" pitchFamily="34" charset="0"/>
              </a:rPr>
              <a:t>Grants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Biome" panose="020B0503030204020804" pitchFamily="34" charset="0"/>
              </a:rPr>
              <a:t>Aggie Pitch, EPA P2 Grant, College Station EDC Micro Grant</a:t>
            </a:r>
          </a:p>
          <a:p>
            <a:pPr lvl="1"/>
            <a:endParaRPr lang="en-US" sz="2000" dirty="0">
              <a:latin typeface="Biome" panose="020B0503030204020804" pitchFamily="34" charset="0"/>
              <a:ea typeface="+mn-lt"/>
              <a:cs typeface="Biome" panose="020B05030302040208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67A20-EE70-4742-3B5C-BF0D4F1CFC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FFC393-410E-6678-E0AD-569FF034A41C}"/>
              </a:ext>
            </a:extLst>
          </p:cNvPr>
          <p:cNvGrpSpPr/>
          <p:nvPr/>
        </p:nvGrpSpPr>
        <p:grpSpPr>
          <a:xfrm>
            <a:off x="-25400981" y="5282171"/>
            <a:ext cx="35467677" cy="2389764"/>
            <a:chOff x="-12130281" y="5280243"/>
            <a:chExt cx="35467677" cy="238976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3549B6-3B69-5DC1-B3AA-976E5C83C578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9768A0B-F6DF-6F54-4FDC-1737B256A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428FB8-825F-2ACC-9FC8-3B5FEDC01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7718C3-E694-8566-C4A9-48D6917ED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367C852-9783-5EE7-B5E8-6A4A2F8D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14475480" y="410887"/>
            <a:ext cx="2387981" cy="121381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89C848-DBEA-3EAC-3A6B-7FC931910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77795" r="39391" b="2"/>
          <a:stretch>
            <a:fillRect/>
          </a:stretch>
        </p:blipFill>
        <p:spPr>
          <a:xfrm rot="16200000">
            <a:off x="56573267" y="5096936"/>
            <a:ext cx="2387981" cy="2772699"/>
          </a:xfrm>
          <a:prstGeom prst="rect">
            <a:avLst/>
          </a:prstGeom>
        </p:spPr>
      </p:pic>
      <p:pic>
        <p:nvPicPr>
          <p:cNvPr id="12" name="Picture 11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509A36D7-A9F6-5B67-9158-07BD67D8A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890" y="1101176"/>
            <a:ext cx="5884653" cy="41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34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11A507-6936-DAE4-0381-E51A0E44E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087259"/>
              </p:ext>
            </p:extLst>
          </p:nvPr>
        </p:nvGraphicFramePr>
        <p:xfrm>
          <a:off x="531813" y="28575"/>
          <a:ext cx="11128375" cy="683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FBCC50A-FA9D-854B-5F1C-89CC7D50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137" y="539750"/>
            <a:ext cx="10515600" cy="1325563"/>
          </a:xfrm>
        </p:spPr>
        <p:txBody>
          <a:bodyPr/>
          <a:lstStyle/>
          <a:p>
            <a:r>
              <a:rPr lang="en-US">
                <a:latin typeface="Biome" panose="020B0503030204020804" pitchFamily="34" charset="0"/>
                <a:cs typeface="Biome" panose="020B0503030204020804" pitchFamily="34" charset="0"/>
              </a:rPr>
              <a:t>Future aspirations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3E1AF-4EFB-624B-96CC-9F704812FA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75" y="-619037"/>
            <a:ext cx="2309725" cy="230972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A013F04-76F3-8184-7321-B0ECE66169AA}"/>
              </a:ext>
            </a:extLst>
          </p:cNvPr>
          <p:cNvGrpSpPr/>
          <p:nvPr/>
        </p:nvGrpSpPr>
        <p:grpSpPr>
          <a:xfrm>
            <a:off x="-46889381" y="5282171"/>
            <a:ext cx="35467677" cy="2389764"/>
            <a:chOff x="-12130281" y="5280243"/>
            <a:chExt cx="35467677" cy="238976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513B6C2-A240-6FE3-AC43-19288F6F42AB}"/>
                </a:ext>
              </a:extLst>
            </p:cNvPr>
            <p:cNvGrpSpPr/>
            <p:nvPr/>
          </p:nvGrpSpPr>
          <p:grpSpPr>
            <a:xfrm>
              <a:off x="-12130281" y="5280243"/>
              <a:ext cx="23810030" cy="2387981"/>
              <a:chOff x="81026" y="5280243"/>
              <a:chExt cx="23810030" cy="238798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47DAD7E-7410-BB2C-350C-4A56CF509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4956120" y="405149"/>
                <a:ext cx="2387981" cy="1213817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7586038-8E6C-C5A4-08CC-A596808AE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706" t="2804" r="39391"/>
              <a:stretch>
                <a:fillRect/>
              </a:stretch>
            </p:blipFill>
            <p:spPr>
              <a:xfrm rot="16200000">
                <a:off x="16627980" y="405149"/>
                <a:ext cx="2387981" cy="12138170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91DDEA9-9DD0-F4D1-6E7B-A83AE445B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6" t="2804" r="39391"/>
            <a:stretch>
              <a:fillRect/>
            </a:stretch>
          </p:blipFill>
          <p:spPr>
            <a:xfrm rot="16200000">
              <a:off x="16074320" y="406932"/>
              <a:ext cx="2387981" cy="1213817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3BDE7CD-9652-8F32-7936-107D3183EE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6" t="2804" r="39391"/>
          <a:stretch>
            <a:fillRect/>
          </a:stretch>
        </p:blipFill>
        <p:spPr>
          <a:xfrm rot="16200000">
            <a:off x="-7012920" y="410887"/>
            <a:ext cx="2387981" cy="1213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68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D6786-F307-24DE-D9A5-7E8C8C2ED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4" b="21637"/>
          <a:stretch>
            <a:fillRect/>
          </a:stretch>
        </p:blipFill>
        <p:spPr>
          <a:xfrm>
            <a:off x="20" y="3900"/>
            <a:ext cx="12191980" cy="685671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111941-3F7B-553E-3A50-F44435827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596" y="4406656"/>
            <a:ext cx="5980808" cy="15278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5400" b="1" i="1">
                <a:latin typeface="Biome" panose="020B0503030204020804" pitchFamily="34" charset="0"/>
                <a:cs typeface="Biome" panose="020B0503030204020804" pitchFamily="34" charset="0"/>
              </a:rPr>
              <a:t>One tie at a time</a:t>
            </a:r>
          </a:p>
        </p:txBody>
      </p:sp>
    </p:spTree>
    <p:extLst>
      <p:ext uri="{BB962C8B-B14F-4D97-AF65-F5344CB8AC3E}">
        <p14:creationId xmlns:p14="http://schemas.microsoft.com/office/powerpoint/2010/main" val="1631843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162014-EC22-3157-6CE5-696F1CA4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4" t="1536" r="876" b="1410"/>
          <a:stretch>
            <a:fillRect/>
          </a:stretch>
        </p:blipFill>
        <p:spPr>
          <a:xfrm>
            <a:off x="1923011" y="211974"/>
            <a:ext cx="8345978" cy="64340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153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E8B7622-8AA3-059D-2759-AD635323F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75916"/>
              </p:ext>
            </p:extLst>
          </p:nvPr>
        </p:nvGraphicFramePr>
        <p:xfrm>
          <a:off x="1345095" y="1610447"/>
          <a:ext cx="9879495" cy="42278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9271">
                  <a:extLst>
                    <a:ext uri="{9D8B030D-6E8A-4147-A177-3AD203B41FA5}">
                      <a16:colId xmlns:a16="http://schemas.microsoft.com/office/drawing/2014/main" val="2223394397"/>
                    </a:ext>
                  </a:extLst>
                </a:gridCol>
                <a:gridCol w="2963849">
                  <a:extLst>
                    <a:ext uri="{9D8B030D-6E8A-4147-A177-3AD203B41FA5}">
                      <a16:colId xmlns:a16="http://schemas.microsoft.com/office/drawing/2014/main" val="365558435"/>
                    </a:ext>
                  </a:extLst>
                </a:gridCol>
                <a:gridCol w="4396375">
                  <a:extLst>
                    <a:ext uri="{9D8B030D-6E8A-4147-A177-3AD203B41FA5}">
                      <a16:colId xmlns:a16="http://schemas.microsoft.com/office/drawing/2014/main" val="1273006364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75474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Item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Wood 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PolyRail Titan 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05957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Upfront cost per tie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~25 $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45 $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662757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Service life (years)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50+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997662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Upfront cost per mile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83,750 $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150,750 $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828395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Cost of 1 tie per 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2.5 $/yr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0.9 $/yr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502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Cost of 1 mile per 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8,375 $/yr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3,015 $/yr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68516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50‑year lifecycle cost per mile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418,750 $ (5× replacement)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150,750 $ (1 install)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41567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Total savings over 50 years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6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268,000 $ saved per mile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8680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A7530E-07EA-0175-F955-A76A1B99E815}"/>
              </a:ext>
            </a:extLst>
          </p:cNvPr>
          <p:cNvSpPr txBox="1"/>
          <p:nvPr/>
        </p:nvSpPr>
        <p:spPr>
          <a:xfrm>
            <a:off x="1345095" y="404191"/>
            <a:ext cx="4260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iome" panose="020B0503030204020804" pitchFamily="34" charset="0"/>
                <a:cs typeface="Biome" panose="020B0503030204020804" pitchFamily="34" charset="0"/>
              </a:rPr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3992274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1D43A5-E2C7-DF2F-7269-5304D307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7" y="1275380"/>
            <a:ext cx="9718303" cy="5185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2F74F5-8569-5ED5-16DD-A7F7767E864D}"/>
              </a:ext>
            </a:extLst>
          </p:cNvPr>
          <p:cNvSpPr txBox="1"/>
          <p:nvPr/>
        </p:nvSpPr>
        <p:spPr>
          <a:xfrm>
            <a:off x="1025781" y="397173"/>
            <a:ext cx="4772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iome" panose="020B0503030204020804" pitchFamily="34" charset="0"/>
                <a:cs typeface="Biome" panose="020B0503030204020804" pitchFamily="34" charset="0"/>
              </a:rPr>
              <a:t>Year 1 Finances</a:t>
            </a:r>
          </a:p>
        </p:txBody>
      </p:sp>
    </p:spTree>
    <p:extLst>
      <p:ext uri="{BB962C8B-B14F-4D97-AF65-F5344CB8AC3E}">
        <p14:creationId xmlns:p14="http://schemas.microsoft.com/office/powerpoint/2010/main" val="83763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668B-7766-66CE-A774-DAD35703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DC91EC-46DC-48BE-B62A-46B64D7A5EB8}"/>
              </a:ext>
            </a:extLst>
          </p:cNvPr>
          <p:cNvSpPr txBox="1"/>
          <p:nvPr/>
        </p:nvSpPr>
        <p:spPr>
          <a:xfrm>
            <a:off x="1025781" y="397173"/>
            <a:ext cx="4772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iome" panose="020B0503030204020804" pitchFamily="34" charset="0"/>
                <a:cs typeface="Biome" panose="020B0503030204020804" pitchFamily="34" charset="0"/>
              </a:rPr>
              <a:t>Year 2 Finances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D52A0-7CFF-1AFB-9494-34C2C1AD5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81" y="1166614"/>
            <a:ext cx="10029791" cy="51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2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cost of a company&#10;&#10;AI-generated content may be incorrect.">
            <a:extLst>
              <a:ext uri="{FF2B5EF4-FFF2-40B4-BE49-F238E27FC236}">
                <a16:creationId xmlns:a16="http://schemas.microsoft.com/office/drawing/2014/main" id="{AB84D524-B0DC-3ED6-30EC-A7FA14D5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02" y="171686"/>
            <a:ext cx="8362196" cy="651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7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581</Words>
  <Application>Microsoft Office PowerPoint</Application>
  <PresentationFormat>Widescreen</PresentationFormat>
  <Paragraphs>139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Biome</vt:lpstr>
      <vt:lpstr>Calibri</vt:lpstr>
      <vt:lpstr>Courier New</vt:lpstr>
      <vt:lpstr>Segoe UI</vt:lpstr>
      <vt:lpstr>office theme</vt:lpstr>
      <vt:lpstr>PowerPoint Presentation</vt:lpstr>
      <vt:lpstr>THE WOODEN RAILWAY TIE</vt:lpstr>
      <vt:lpstr>PowerPoint Presentation</vt:lpstr>
      <vt:lpstr>PowerPoint Presentation</vt:lpstr>
      <vt:lpstr>Agenda</vt:lpstr>
      <vt:lpstr>DESIGN/FABRICATION</vt:lpstr>
      <vt:lpstr>PowerPoint Presentation</vt:lpstr>
      <vt:lpstr>Target audience </vt:lpstr>
      <vt:lpstr>Why us?</vt:lpstr>
      <vt:lpstr>Timeline</vt:lpstr>
      <vt:lpstr>Projections</vt:lpstr>
      <vt:lpstr>Future aspirations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Pereyra</dc:creator>
  <cp:lastModifiedBy>Eduardo Pereyra</cp:lastModifiedBy>
  <cp:revision>1</cp:revision>
  <dcterms:created xsi:type="dcterms:W3CDTF">2026-01-31T14:19:03Z</dcterms:created>
  <dcterms:modified xsi:type="dcterms:W3CDTF">2026-02-01T16:57:20Z</dcterms:modified>
</cp:coreProperties>
</file>